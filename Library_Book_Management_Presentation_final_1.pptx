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82" r:id="rId3"/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81" r:id="rId2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A013F36-F0C0-97BB-F7EA-FB4298DA4193}">
          <p14:sldIdLst>
            <p14:sldId id="282"/>
            <p14:sldId id="256"/>
          </p14:sldIdLst>
        </p14:section>
        <p14:section name="Analysis" id="{874D7F0D-F6A5-7B69-B6B3-D22BEAB756BB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esign and Build" id="{147764D5-17C1-598F-3685-EA3F95376DD3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sults" id="{950EF385-314E-6F49-438D-96F9E0BCE180}">
          <p14:sldIdLst>
            <p14:sldId id="270"/>
            <p14:sldId id="271"/>
          </p14:sldIdLst>
        </p14:section>
        <p14:section name="Wrap-up" id="{AC5DDED3-6BC7-997E-B6AD-43D4998BEED1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8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Library Book Management mini project. It is a Bash script for the Linux terminal. The sample shows a new book being added and saved in books.txt.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libraries need to find books and track whether they are available or issued. The program takes user choices, works with a text file, and prints clear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the manual problem and walk through the six requirements: add, list, search, issue, return, and 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project teaches terminal use, variables, functions, file handling, conditions, validation, and a complete working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scope is six management actions, a simple text file, no database, and a command-line interface running on Ubuntu or WSL.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the existing system, books are written in registers or spreadsheets. Searching and updating manually takes time and can leave stale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workflow starts at the menu. The user selects an operation, the script reads or changes the book file, shows a result, and returns to the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standard laptop is enough. The software needed is Bash on Ubuntu Linux or WSL and a text editor such as nano.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Input contains book and borrower details. Processing searches the record file and updates status. Output includes book details and confirmation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record file is pipe-delimited. The table explains what each menu operation takes as input and how it changes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Follow the workflow: show menu, validate a choice, run an operation, display the result, then repeat or exit. Invalid choices return to the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algorithm opens the data file, shows the menu, reads an option, performs the selected action, saves changes, and repeats until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Create a folder, open library.sh in nano, create books.txt if needed, give execute permission, and run the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key statements: read takes input, the while/read loop parses each record, printf stores a record, mv replaces the file after updates, and case selects the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Demonstrate adding Clean Code as B104. The cards summarize the available actions, text-file storage, and the two book statuses.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Testing checks new records, duplicate IDs, title search, issue, return, and an unknown ID. Each operation should show the expected message and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how the work is divided across coding, file handling, testing, documentation, and presentation. Replace roles if your team division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Advantages are simple automation and saved records. Limitations are text-file storage, no login, and no fines or due-date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 versions can add member records, ISBN/category, due dates, fines, editing, larger data storage, and a GUI.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project gives practice with Linux commands, Bash control flow, input, functions, file handling, validation,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Conclude that the project automates core book tracking and provides a foundation for a more complete library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Mention the Bash manual, Linux man-pages, Ubuntu documentation, and faculty course notes as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the audience and invite questions. Be ready to explain the record format, how a book is issued or returned, why chmod +x is used, and how data stays in books.txt.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1234440"/>
            <a:ext cx="4663440" cy="15544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Title</a:t>
            </a:r>
            <a:endParaRPr lang="en-US" sz="38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548640" y="2880360"/>
            <a:ext cx="466344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Title</a:t>
            </a: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Library Book Management  |  Linux Mini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Title</a:t>
            </a: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Library Book Management  |  Linux Mini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8C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anel"/>
          <p:cNvSpPr/>
          <p:nvPr/>
        </p:nvSpPr>
        <p:spPr>
          <a:xfrm>
            <a:off x="457200" y="320040"/>
            <a:ext cx="1938528" cy="1028698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>
            <a:noFill/>
          </a:ln>
        </p:spPr>
      </p:sp>
      <p:pic>
        <p:nvPicPr>
          <p:cNvPr id="3" name="KL logo" descr="KL University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755648" cy="845818"/>
          </a:xfrm>
          <a:prstGeom prst="rect">
            <a:avLst/>
          </a:prstGeom>
        </p:spPr>
      </p:pic>
      <p:sp>
        <p:nvSpPr>
          <p:cNvPr id="4" name="Chip Dept"/>
          <p:cNvSpPr/>
          <p:nvPr/>
        </p:nvSpPr>
        <p:spPr>
          <a:xfrm>
            <a:off x="6400800" y="411480"/>
            <a:ext cx="2286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5" name="Chip text Dept"/>
          <p:cNvSpPr txBox="1"/>
          <p:nvPr/>
        </p:nvSpPr>
        <p:spPr>
          <a:xfrm>
            <a:off x="6400800" y="411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Dept. of CSA – BCA</a:t>
            </a:r>
            <a:endParaRPr lang="en-US" sz="1400" b="1" dirty="0">
              <a:solidFill>
                <a:schemeClr val="accent2"/>
              </a:solidFill>
            </a:endParaRPr>
          </a:p>
        </p:txBody>
      </p:sp>
      <p:sp>
        <p:nvSpPr>
          <p:cNvPr id="6" name="Chip Year"/>
          <p:cNvSpPr/>
          <p:nvPr/>
        </p:nvSpPr>
        <p:spPr>
          <a:xfrm>
            <a:off x="6400800" y="886968"/>
            <a:ext cx="2286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7" name="Chip text Year"/>
          <p:cNvSpPr txBox="1"/>
          <p:nvPr/>
        </p:nvSpPr>
        <p:spPr>
          <a:xfrm>
            <a:off x="6400800" y="8869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 Year – I Semester</a:t>
            </a:r>
            <a:endParaRPr lang="en-US" sz="1400" b="1" dirty="0">
              <a:solidFill>
                <a:schemeClr val="accent2"/>
              </a:solidFill>
            </a:endParaRPr>
          </a:p>
        </p:txBody>
      </p:sp>
      <p:sp>
        <p:nvSpPr>
          <p:cNvPr id="8" name="Title"/>
          <p:cNvSpPr txBox="1"/>
          <p:nvPr/>
        </p:nvSpPr>
        <p:spPr>
          <a:xfrm>
            <a:off x="457200" y="1530000"/>
            <a:ext cx="8229600" cy="7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  <a:latin typeface="Cambria" panose="02040503050406030204"/>
              </a:rPr>
              <a:t>Library Book Management</a:t>
            </a:r>
            <a:endParaRPr lang="en-US" sz="3800" b="1" dirty="0">
              <a:solidFill>
                <a:schemeClr val="bg1"/>
              </a:solidFill>
              <a:latin typeface="Cambria" panose="02040503050406030204"/>
            </a:endParaRPr>
          </a:p>
        </p:txBody>
      </p:sp>
      <p:sp>
        <p:nvSpPr>
          <p:cNvPr id="9" name="Team name pill"/>
          <p:cNvSpPr/>
          <p:nvPr/>
        </p:nvSpPr>
        <p:spPr>
          <a:xfrm>
            <a:off x="457200" y="2330000"/>
            <a:ext cx="4754880" cy="380000"/>
          </a:xfrm>
          <a:prstGeom prst="roundRect">
            <a:avLst>
              <a:gd name="adj" fmla="val 48889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0" name="Team name text"/>
          <p:cNvSpPr txBox="1"/>
          <p:nvPr/>
        </p:nvSpPr>
        <p:spPr>
          <a:xfrm>
            <a:off x="457200" y="2330000"/>
            <a:ext cx="475488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Team Name: Double Trouble</a:t>
            </a:r>
            <a:endParaRPr lang="en-US" sz="1600" b="1" dirty="0">
              <a:solidFill>
                <a:schemeClr val="tx2"/>
              </a:solidFill>
            </a:endParaRPr>
          </a:p>
        </p:txBody>
      </p:sp>
      <p:grpSp>
        <p:nvGrpSpPr>
          <p:cNvPr id="11" name="Member 1"/>
          <p:cNvGrpSpPr/>
          <p:nvPr/>
        </p:nvGrpSpPr>
        <p:grpSpPr>
          <a:xfrm>
            <a:off x="457200" y="2890000"/>
            <a:ext cx="4023360" cy="880000"/>
            <a:chOff x="457200" y="2890000"/>
            <a:chExt cx="4023360" cy="880000"/>
          </a:xfrm>
        </p:grpSpPr>
        <p:sp>
          <p:nvSpPr>
            <p:cNvPr id="12" name="Student card 1"/>
            <p:cNvSpPr/>
            <p:nvPr/>
          </p:nvSpPr>
          <p:spPr>
            <a:xfrm>
              <a:off x="457200" y="2890000"/>
              <a:ext cx="4023360" cy="8800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Student icon badge 1"/>
            <p:cNvSpPr/>
            <p:nvPr/>
          </p:nvSpPr>
          <p:spPr>
            <a:xfrm>
              <a:off x="685800" y="3090000"/>
              <a:ext cx="480000" cy="480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</p:sp>
        <p:pic>
          <p:nvPicPr>
            <p:cNvPr id="14" name="Student icon 1" descr="Student ico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00" y="3226000"/>
              <a:ext cx="208000" cy="208000"/>
            </a:xfrm>
            <a:prstGeom prst="rect">
              <a:avLst/>
            </a:prstGeom>
          </p:spPr>
        </p:pic>
        <p:sp>
          <p:nvSpPr>
            <p:cNvPr id="15" name="Student name 1"/>
            <p:cNvSpPr txBox="1"/>
            <p:nvPr/>
          </p:nvSpPr>
          <p:spPr>
            <a:xfrm>
              <a:off x="1417320" y="3000000"/>
              <a:ext cx="2926080" cy="34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chemeClr val="bg1"/>
                  </a:solidFill>
                </a:rPr>
                <a:t>K. Bhuvan Sai Kumar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Roll number 1"/>
            <p:cNvSpPr txBox="1"/>
            <p:nvPr/>
          </p:nvSpPr>
          <p:spPr>
            <a:xfrm>
              <a:off x="1417320" y="3360000"/>
              <a:ext cx="2926080" cy="30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600" b="0" dirty="0">
                  <a:solidFill>
                    <a:schemeClr val="bg2"/>
                  </a:solidFill>
                </a:rPr>
                <a:t>R.No: 2620520023</a:t>
              </a:r>
              <a:endParaRPr lang="en-US" sz="1600" b="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7" name="Member 2"/>
          <p:cNvGrpSpPr/>
          <p:nvPr/>
        </p:nvGrpSpPr>
        <p:grpSpPr>
          <a:xfrm>
            <a:off x="4663440" y="2890000"/>
            <a:ext cx="4023360" cy="880000"/>
            <a:chOff x="4663440" y="2890000"/>
            <a:chExt cx="4023360" cy="880000"/>
          </a:xfrm>
        </p:grpSpPr>
        <p:sp>
          <p:nvSpPr>
            <p:cNvPr id="18" name="Student card 2"/>
            <p:cNvSpPr/>
            <p:nvPr/>
          </p:nvSpPr>
          <p:spPr>
            <a:xfrm>
              <a:off x="4663440" y="2890000"/>
              <a:ext cx="4023360" cy="8800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Student icon badge 2"/>
            <p:cNvSpPr/>
            <p:nvPr/>
          </p:nvSpPr>
          <p:spPr>
            <a:xfrm>
              <a:off x="4892040" y="3090000"/>
              <a:ext cx="480000" cy="480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</p:sp>
        <p:pic>
          <p:nvPicPr>
            <p:cNvPr id="20" name="Student icon 2" descr="Student ico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28040" y="3226000"/>
              <a:ext cx="208000" cy="208000"/>
            </a:xfrm>
            <a:prstGeom prst="rect">
              <a:avLst/>
            </a:prstGeom>
          </p:spPr>
        </p:pic>
        <p:sp>
          <p:nvSpPr>
            <p:cNvPr id="21" name="Student name 2"/>
            <p:cNvSpPr txBox="1"/>
            <p:nvPr/>
          </p:nvSpPr>
          <p:spPr>
            <a:xfrm>
              <a:off x="5623560" y="3000000"/>
              <a:ext cx="2926080" cy="34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chemeClr val="bg1"/>
                  </a:solidFill>
                </a:rPr>
                <a:t>J. Prasanth Pavan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Roll number 2"/>
            <p:cNvSpPr txBox="1"/>
            <p:nvPr/>
          </p:nvSpPr>
          <p:spPr>
            <a:xfrm>
              <a:off x="5623560" y="3360000"/>
              <a:ext cx="2926080" cy="30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600" b="0" dirty="0">
                  <a:solidFill>
                    <a:schemeClr val="bg2"/>
                  </a:solidFill>
                </a:rPr>
                <a:t>R.No: 2610520021</a:t>
              </a:r>
              <a:endParaRPr lang="en-US" sz="1600" b="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23" name="Member 3"/>
          <p:cNvGrpSpPr/>
          <p:nvPr/>
        </p:nvGrpSpPr>
        <p:grpSpPr>
          <a:xfrm>
            <a:off x="457200" y="3952880"/>
            <a:ext cx="4023360" cy="880000"/>
            <a:chOff x="457200" y="3952880"/>
            <a:chExt cx="4023360" cy="880000"/>
          </a:xfrm>
        </p:grpSpPr>
        <p:sp>
          <p:nvSpPr>
            <p:cNvPr id="24" name="Student card 3"/>
            <p:cNvSpPr/>
            <p:nvPr/>
          </p:nvSpPr>
          <p:spPr>
            <a:xfrm>
              <a:off x="457200" y="3952880"/>
              <a:ext cx="4023360" cy="8800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Student icon badge 3"/>
            <p:cNvSpPr/>
            <p:nvPr/>
          </p:nvSpPr>
          <p:spPr>
            <a:xfrm>
              <a:off x="685800" y="4152880"/>
              <a:ext cx="480000" cy="480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</p:sp>
        <p:pic>
          <p:nvPicPr>
            <p:cNvPr id="26" name="Student icon 3" descr="Student ico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00" y="4288880"/>
              <a:ext cx="208000" cy="208000"/>
            </a:xfrm>
            <a:prstGeom prst="rect">
              <a:avLst/>
            </a:prstGeom>
          </p:spPr>
        </p:pic>
        <p:sp>
          <p:nvSpPr>
            <p:cNvPr id="27" name="Student name 3"/>
            <p:cNvSpPr txBox="1"/>
            <p:nvPr/>
          </p:nvSpPr>
          <p:spPr>
            <a:xfrm>
              <a:off x="1417320" y="4062880"/>
              <a:ext cx="2926080" cy="34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chemeClr val="bg1"/>
                  </a:solidFill>
                </a:rPr>
                <a:t>Abhinav Joshi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Roll number 3"/>
            <p:cNvSpPr txBox="1"/>
            <p:nvPr/>
          </p:nvSpPr>
          <p:spPr>
            <a:xfrm>
              <a:off x="1417320" y="4422880"/>
              <a:ext cx="2926080" cy="30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600" b="0" dirty="0">
                  <a:solidFill>
                    <a:schemeClr val="bg2"/>
                  </a:solidFill>
                </a:rPr>
                <a:t>R.No: 2620520003</a:t>
              </a:r>
              <a:endParaRPr lang="en-US" sz="1600" b="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29" name="Member 4"/>
          <p:cNvGrpSpPr/>
          <p:nvPr/>
        </p:nvGrpSpPr>
        <p:grpSpPr>
          <a:xfrm>
            <a:off x="4663440" y="3952880"/>
            <a:ext cx="4023360" cy="880000"/>
            <a:chOff x="4663440" y="3952880"/>
            <a:chExt cx="4023360" cy="880000"/>
          </a:xfrm>
        </p:grpSpPr>
        <p:sp>
          <p:nvSpPr>
            <p:cNvPr id="30" name="Student card 4"/>
            <p:cNvSpPr/>
            <p:nvPr/>
          </p:nvSpPr>
          <p:spPr>
            <a:xfrm>
              <a:off x="4663440" y="3952880"/>
              <a:ext cx="4023360" cy="8800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Student icon badge 4"/>
            <p:cNvSpPr/>
            <p:nvPr/>
          </p:nvSpPr>
          <p:spPr>
            <a:xfrm>
              <a:off x="4892040" y="4152880"/>
              <a:ext cx="480000" cy="480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</p:sp>
        <p:pic>
          <p:nvPicPr>
            <p:cNvPr id="32" name="Student icon 4" descr="Student ico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28040" y="4288880"/>
              <a:ext cx="208000" cy="208000"/>
            </a:xfrm>
            <a:prstGeom prst="rect">
              <a:avLst/>
            </a:prstGeom>
          </p:spPr>
        </p:pic>
        <p:sp>
          <p:nvSpPr>
            <p:cNvPr id="33" name="Student name 4"/>
            <p:cNvSpPr txBox="1"/>
            <p:nvPr/>
          </p:nvSpPr>
          <p:spPr>
            <a:xfrm>
              <a:off x="5623560" y="4062880"/>
              <a:ext cx="2926080" cy="34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chemeClr val="bg1"/>
                  </a:solidFill>
                </a:rPr>
                <a:t>Veeran Reddy Hari Krishna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Roll number 4"/>
            <p:cNvSpPr txBox="1"/>
            <p:nvPr/>
          </p:nvSpPr>
          <p:spPr>
            <a:xfrm>
              <a:off x="5623560" y="4422880"/>
              <a:ext cx="2926080" cy="30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600" b="0" dirty="0">
                  <a:solidFill>
                    <a:schemeClr val="bg2"/>
                  </a:solidFill>
                </a:rPr>
                <a:t>R.No: 2610520052</a:t>
              </a:r>
              <a:endParaRPr lang="en-US" sz="1600" b="0" dirty="0">
                <a:solidFill>
                  <a:schemeClr val="bg2"/>
                </a:solidFill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7772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chemeClr val="accent2"/>
                </a:solidFill>
              </a:rPr>
              <a:t>LINUX MINI PROJECT</a:t>
            </a:r>
            <a:endParaRPr lang="en-US" sz="1400" dirty="0"/>
          </a:p>
        </p:txBody>
      </p:sp>
      <p:sp>
        <p:nvSpPr>
          <p:cNvPr id="3" name="Text 0"/>
          <p:cNvSpPr/>
          <p:nvPr>
            <p:ph type="title" idx="100" hasCustomPrompt="1"/>
          </p:nvPr>
        </p:nvSpPr>
        <p:spPr>
          <a:xfrm>
            <a:off x="548640" y="123444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Library Book Management</a:t>
            </a:r>
            <a:endParaRPr lang="en-US" sz="3800" dirty="0"/>
          </a:p>
        </p:txBody>
      </p:sp>
      <p:sp>
        <p:nvSpPr>
          <p:cNvPr id="4" name="Text 0"/>
          <p:cNvSpPr/>
          <p:nvPr>
            <p:ph type="body" idx="101" hasCustomPrompt="1"/>
          </p:nvPr>
        </p:nvSpPr>
        <p:spPr>
          <a:xfrm>
            <a:off x="548640" y="288036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A Beginner-Level Bash Shell Scripting Project</a:t>
            </a:r>
            <a:endParaRPr lang="en-US" sz="1800" dirty="0"/>
          </a:p>
        </p:txBody>
      </p:sp>
      <p:sp>
        <p:nvSpPr>
          <p:cNvPr id="5" name="Presenter details"/>
          <p:cNvSpPr txBox="1"/>
          <p:nvPr/>
        </p:nvSpPr>
        <p:spPr>
          <a:xfrm>
            <a:off x="548640" y="397764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endParaRPr lang="en-US" sz="1400" dirty="0"/>
          </a:p>
        </p:txBody>
      </p:sp>
      <p:sp>
        <p:nvSpPr>
          <p:cNvPr id="6" name="Terminal window"/>
          <p:cNvSpPr/>
          <p:nvPr/>
        </p:nvSpPr>
        <p:spPr>
          <a:xfrm>
            <a:off x="5532120" y="1234440"/>
            <a:ext cx="3200400" cy="2194560"/>
          </a:xfrm>
          <a:prstGeom prst="roundRect">
            <a:avLst>
              <a:gd name="adj" fmla="val 4167"/>
            </a:avLst>
          </a:prstGeom>
          <a:solidFill>
            <a:schemeClr val="accent3"/>
          </a:solidFill>
        </p:spPr>
      </p:sp>
      <p:sp>
        <p:nvSpPr>
          <p:cNvPr id="7" name="Window dot 1"/>
          <p:cNvSpPr/>
          <p:nvPr/>
        </p:nvSpPr>
        <p:spPr>
          <a:xfrm>
            <a:off x="5715000" y="1417320"/>
            <a:ext cx="128016" cy="128016"/>
          </a:xfrm>
          <a:prstGeom prst="ellipse">
            <a:avLst/>
          </a:prstGeom>
          <a:solidFill>
            <a:schemeClr val="accent5"/>
          </a:solidFill>
        </p:spPr>
      </p:sp>
      <p:sp>
        <p:nvSpPr>
          <p:cNvPr id="8" name="Window dot 2"/>
          <p:cNvSpPr/>
          <p:nvPr/>
        </p:nvSpPr>
        <p:spPr>
          <a:xfrm>
            <a:off x="5943600" y="1417320"/>
            <a:ext cx="128016" cy="128016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9" name="Window dot 3"/>
          <p:cNvSpPr/>
          <p:nvPr/>
        </p:nvSpPr>
        <p:spPr>
          <a:xfrm>
            <a:off x="6172200" y="1417320"/>
            <a:ext cx="128016" cy="128016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0" name="Terminal text"/>
          <p:cNvSpPr txBox="1"/>
          <p:nvPr/>
        </p:nvSpPr>
        <p:spPr>
          <a:xfrm>
            <a:off x="5715000" y="1783080"/>
            <a:ext cx="288036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./library.sh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Choice: 1 (Add Book)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Book ID: B104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Title: Clean Code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Author: R. C. Martin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Added successfully!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Status: Available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books.txt saved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1. Introduction</a:t>
            </a:r>
            <a:endParaRPr lang="en-US" sz="3400" dirty="0"/>
          </a:p>
        </p:txBody>
      </p:sp>
      <p:sp>
        <p:nvSpPr>
          <p:cNvPr id="4" name="Introduction points"/>
          <p:cNvSpPr txBox="1"/>
          <p:nvPr/>
        </p:nvSpPr>
        <p:spPr>
          <a:xfrm>
            <a:off x="457200" y="1280160"/>
            <a:ext cx="420624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Libraries need a reliable way to track books and their availability.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Bash can automate common library tasks from the terminal.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This project uses a simple text file to store book records.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Users can add, view, search, issue, return and delete books.</a:t>
            </a:r>
            <a:endParaRPr lang="en-US" sz="1600" dirty="0"/>
          </a:p>
        </p:txBody>
      </p:sp>
      <p:sp>
        <p:nvSpPr>
          <p:cNvPr id="5" name="Flow card 1"/>
          <p:cNvSpPr/>
          <p:nvPr/>
        </p:nvSpPr>
        <p:spPr>
          <a:xfrm>
            <a:off x="5029200" y="1280160"/>
            <a:ext cx="3657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</p:spPr>
      </p:sp>
      <p:sp>
        <p:nvSpPr>
          <p:cNvPr id="6" name="Icon circle FaKeyboard"/>
          <p:cNvSpPr/>
          <p:nvPr/>
        </p:nvSpPr>
        <p:spPr>
          <a:xfrm>
            <a:off x="5212080" y="146304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7" name="Icon FaKeyboard" descr="Keyboard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3754" y="1594714"/>
            <a:ext cx="285293" cy="285293"/>
          </a:xfrm>
          <a:prstGeom prst="rect">
            <a:avLst/>
          </a:prstGeom>
        </p:spPr>
      </p:pic>
      <p:sp>
        <p:nvSpPr>
          <p:cNvPr id="8" name="Flow label 1"/>
          <p:cNvSpPr txBox="1"/>
          <p:nvPr/>
        </p:nvSpPr>
        <p:spPr>
          <a:xfrm>
            <a:off x="5943600" y="141732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Input</a:t>
            </a:r>
            <a:endParaRPr lang="en-US" sz="1800" dirty="0"/>
          </a:p>
        </p:txBody>
      </p:sp>
      <p:sp>
        <p:nvSpPr>
          <p:cNvPr id="9" name="Flow text 1"/>
          <p:cNvSpPr txBox="1"/>
          <p:nvPr/>
        </p:nvSpPr>
        <p:spPr>
          <a:xfrm>
            <a:off x="5943600" y="175564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Book ID, title, author and borrower</a:t>
            </a:r>
            <a:endParaRPr lang="en-US" sz="1400" dirty="0"/>
          </a:p>
        </p:txBody>
      </p:sp>
      <p:sp>
        <p:nvSpPr>
          <p:cNvPr id="10" name="Flow card 2"/>
          <p:cNvSpPr/>
          <p:nvPr/>
        </p:nvSpPr>
        <p:spPr>
          <a:xfrm>
            <a:off x="5029200" y="2377440"/>
            <a:ext cx="3657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</p:spPr>
      </p:sp>
      <p:sp>
        <p:nvSpPr>
          <p:cNvPr id="11" name="Icon circle FaCogs"/>
          <p:cNvSpPr/>
          <p:nvPr/>
        </p:nvSpPr>
        <p:spPr>
          <a:xfrm>
            <a:off x="5212080" y="256032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2" name="Icon FaCogs" descr="Cogs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754" y="2691994"/>
            <a:ext cx="285293" cy="285293"/>
          </a:xfrm>
          <a:prstGeom prst="rect">
            <a:avLst/>
          </a:prstGeom>
        </p:spPr>
      </p:pic>
      <p:sp>
        <p:nvSpPr>
          <p:cNvPr id="13" name="Flow label 2"/>
          <p:cNvSpPr txBox="1"/>
          <p:nvPr/>
        </p:nvSpPr>
        <p:spPr>
          <a:xfrm>
            <a:off x="5943600" y="251460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Process</a:t>
            </a:r>
            <a:endParaRPr lang="en-US" sz="1800" dirty="0"/>
          </a:p>
        </p:txBody>
      </p:sp>
      <p:sp>
        <p:nvSpPr>
          <p:cNvPr id="14" name="Flow text 2"/>
          <p:cNvSpPr txBox="1"/>
          <p:nvPr/>
        </p:nvSpPr>
        <p:spPr>
          <a:xfrm>
            <a:off x="5943600" y="285292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Search records and update book status</a:t>
            </a:r>
            <a:endParaRPr lang="en-US" sz="1400" dirty="0"/>
          </a:p>
        </p:txBody>
      </p:sp>
      <p:sp>
        <p:nvSpPr>
          <p:cNvPr id="15" name="Flow card 3"/>
          <p:cNvSpPr/>
          <p:nvPr/>
        </p:nvSpPr>
        <p:spPr>
          <a:xfrm>
            <a:off x="5029200" y="3474720"/>
            <a:ext cx="3657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</p:spPr>
      </p:sp>
      <p:sp>
        <p:nvSpPr>
          <p:cNvPr id="16" name="Icon circle FaDesktop"/>
          <p:cNvSpPr/>
          <p:nvPr/>
        </p:nvSpPr>
        <p:spPr>
          <a:xfrm>
            <a:off x="5212080" y="365760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7" name="Icon FaDesktop" descr="Deskto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754" y="3789274"/>
            <a:ext cx="285293" cy="285293"/>
          </a:xfrm>
          <a:prstGeom prst="rect">
            <a:avLst/>
          </a:prstGeom>
        </p:spPr>
      </p:pic>
      <p:sp>
        <p:nvSpPr>
          <p:cNvPr id="18" name="Flow label 3"/>
          <p:cNvSpPr txBox="1"/>
          <p:nvPr/>
        </p:nvSpPr>
        <p:spPr>
          <a:xfrm>
            <a:off x="5943600" y="361188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Output</a:t>
            </a:r>
            <a:endParaRPr lang="en-US" sz="1800" dirty="0"/>
          </a:p>
        </p:txBody>
      </p:sp>
      <p:sp>
        <p:nvSpPr>
          <p:cNvPr id="19" name="Flow text 3"/>
          <p:cNvSpPr txBox="1"/>
          <p:nvPr/>
        </p:nvSpPr>
        <p:spPr>
          <a:xfrm>
            <a:off x="5943600" y="395020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Book details and availability status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2. Problem Statement</a:t>
            </a:r>
            <a:endParaRPr lang="en-US" sz="3400" dirty="0"/>
          </a:p>
        </p:txBody>
      </p:sp>
      <p:sp>
        <p:nvSpPr>
          <p:cNvPr id="4" name="Problem summary"/>
          <p:cNvSpPr txBox="1"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Manual registers can make book searches, issuing and returns slow. Records may be duplicated or availability may not be updated on time. A simple terminal-based system can reduce this work.</a:t>
            </a:r>
            <a:endParaRPr lang="en-US" sz="1600" dirty="0"/>
          </a:p>
        </p:txBody>
      </p:sp>
      <p:sp>
        <p:nvSpPr>
          <p:cNvPr id="5" name="Should label"/>
          <p:cNvSpPr txBox="1"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The system should:</a:t>
            </a:r>
            <a:endParaRPr lang="en-US" sz="1800" dirty="0"/>
          </a:p>
        </p:txBody>
      </p:sp>
      <p:sp>
        <p:nvSpPr>
          <p:cNvPr id="6" name="Requirement card 1"/>
          <p:cNvSpPr/>
          <p:nvPr/>
        </p:nvSpPr>
        <p:spPr>
          <a:xfrm>
            <a:off x="457200" y="242316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</p:spPr>
      </p:sp>
      <p:sp>
        <p:nvSpPr>
          <p:cNvPr id="7" name="Icon circle FaUserGraduate"/>
          <p:cNvSpPr/>
          <p:nvPr/>
        </p:nvSpPr>
        <p:spPr>
          <a:xfrm>
            <a:off x="621792" y="265176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8" name="Icon FaUserGraduate" descr="UserGraduat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66" y="2783434"/>
            <a:ext cx="285293" cy="285293"/>
          </a:xfrm>
          <a:prstGeom prst="rect">
            <a:avLst/>
          </a:prstGeom>
        </p:spPr>
      </p:pic>
      <p:sp>
        <p:nvSpPr>
          <p:cNvPr id="9" name="Requirement text 1"/>
          <p:cNvSpPr txBox="1"/>
          <p:nvPr/>
        </p:nvSpPr>
        <p:spPr>
          <a:xfrm>
            <a:off x="1325880" y="2560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Add a book with its ID, title and author</a:t>
            </a:r>
            <a:endParaRPr lang="en-US" sz="1400" dirty="0"/>
          </a:p>
        </p:txBody>
      </p:sp>
      <p:sp>
        <p:nvSpPr>
          <p:cNvPr id="10" name="Requirement card 2"/>
          <p:cNvSpPr/>
          <p:nvPr/>
        </p:nvSpPr>
        <p:spPr>
          <a:xfrm>
            <a:off x="3246120" y="242316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</p:spPr>
      </p:sp>
      <p:sp>
        <p:nvSpPr>
          <p:cNvPr id="11" name="Icon circle FaCalculator"/>
          <p:cNvSpPr/>
          <p:nvPr/>
        </p:nvSpPr>
        <p:spPr>
          <a:xfrm>
            <a:off x="3410712" y="265176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2" name="Icon FaCalculator" descr="Calculator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386" y="2783434"/>
            <a:ext cx="285293" cy="285293"/>
          </a:xfrm>
          <a:prstGeom prst="rect">
            <a:avLst/>
          </a:prstGeom>
        </p:spPr>
      </p:pic>
      <p:sp>
        <p:nvSpPr>
          <p:cNvPr id="13" name="Requirement text 2"/>
          <p:cNvSpPr txBox="1"/>
          <p:nvPr/>
        </p:nvSpPr>
        <p:spPr>
          <a:xfrm>
            <a:off x="4114800" y="2560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Display all stored books</a:t>
            </a:r>
            <a:endParaRPr lang="en-US" sz="1400" dirty="0"/>
          </a:p>
        </p:txBody>
      </p:sp>
      <p:sp>
        <p:nvSpPr>
          <p:cNvPr id="14" name="Requirement card 3"/>
          <p:cNvSpPr/>
          <p:nvPr/>
        </p:nvSpPr>
        <p:spPr>
          <a:xfrm>
            <a:off x="6035040" y="242316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</p:spPr>
      </p:sp>
      <p:sp>
        <p:nvSpPr>
          <p:cNvPr id="15" name="Icon circle FaChartLine"/>
          <p:cNvSpPr/>
          <p:nvPr/>
        </p:nvSpPr>
        <p:spPr>
          <a:xfrm>
            <a:off x="6199632" y="265176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6" name="Icon FaChartLine" descr="ChartLin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306" y="2783434"/>
            <a:ext cx="285293" cy="285293"/>
          </a:xfrm>
          <a:prstGeom prst="rect">
            <a:avLst/>
          </a:prstGeom>
        </p:spPr>
      </p:pic>
      <p:sp>
        <p:nvSpPr>
          <p:cNvPr id="17" name="Requirement text 3"/>
          <p:cNvSpPr txBox="1"/>
          <p:nvPr/>
        </p:nvSpPr>
        <p:spPr>
          <a:xfrm>
            <a:off x="6903720" y="2560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Search by Book ID or title</a:t>
            </a:r>
            <a:endParaRPr lang="en-US" sz="1400" dirty="0"/>
          </a:p>
        </p:txBody>
      </p:sp>
      <p:sp>
        <p:nvSpPr>
          <p:cNvPr id="18" name="Requirement card 4"/>
          <p:cNvSpPr/>
          <p:nvPr/>
        </p:nvSpPr>
        <p:spPr>
          <a:xfrm>
            <a:off x="457200" y="356616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</p:spPr>
      </p:sp>
      <p:sp>
        <p:nvSpPr>
          <p:cNvPr id="19" name="Icon circle FaCheckCircle"/>
          <p:cNvSpPr/>
          <p:nvPr/>
        </p:nvSpPr>
        <p:spPr>
          <a:xfrm>
            <a:off x="621792" y="379476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0" name="Icon FaCheckCircle" descr="CheckCirc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6" y="3926434"/>
            <a:ext cx="285293" cy="285293"/>
          </a:xfrm>
          <a:prstGeom prst="rect">
            <a:avLst/>
          </a:prstGeom>
        </p:spPr>
      </p:pic>
      <p:sp>
        <p:nvSpPr>
          <p:cNvPr id="21" name="Requirement text 4"/>
          <p:cNvSpPr txBox="1"/>
          <p:nvPr/>
        </p:nvSpPr>
        <p:spPr>
          <a:xfrm>
            <a:off x="1325880" y="3703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Issue an available book to a borrower</a:t>
            </a:r>
            <a:endParaRPr lang="en-US" sz="1400" dirty="0"/>
          </a:p>
        </p:txBody>
      </p:sp>
      <p:sp>
        <p:nvSpPr>
          <p:cNvPr id="22" name="Requirement card 5"/>
          <p:cNvSpPr/>
          <p:nvPr/>
        </p:nvSpPr>
        <p:spPr>
          <a:xfrm>
            <a:off x="3246120" y="356616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</p:spPr>
      </p:sp>
      <p:sp>
        <p:nvSpPr>
          <p:cNvPr id="23" name="Icon circle FaAward"/>
          <p:cNvSpPr/>
          <p:nvPr/>
        </p:nvSpPr>
        <p:spPr>
          <a:xfrm>
            <a:off x="3410712" y="379476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4" name="Icon FaAward" descr="Awar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2386" y="3926434"/>
            <a:ext cx="285293" cy="285293"/>
          </a:xfrm>
          <a:prstGeom prst="rect">
            <a:avLst/>
          </a:prstGeom>
        </p:spPr>
      </p:pic>
      <p:sp>
        <p:nvSpPr>
          <p:cNvPr id="25" name="Requirement text 5"/>
          <p:cNvSpPr txBox="1"/>
          <p:nvPr/>
        </p:nvSpPr>
        <p:spPr>
          <a:xfrm>
            <a:off x="4114800" y="3703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Return an issued book to available status</a:t>
            </a:r>
            <a:endParaRPr lang="en-US" sz="1400" dirty="0"/>
          </a:p>
        </p:txBody>
      </p:sp>
      <p:sp>
        <p:nvSpPr>
          <p:cNvPr id="26" name="Requirement card 6"/>
          <p:cNvSpPr/>
          <p:nvPr/>
        </p:nvSpPr>
        <p:spPr>
          <a:xfrm>
            <a:off x="6035040" y="356616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</p:spPr>
      </p:sp>
      <p:sp>
        <p:nvSpPr>
          <p:cNvPr id="27" name="Icon circle FaDesktop"/>
          <p:cNvSpPr/>
          <p:nvPr/>
        </p:nvSpPr>
        <p:spPr>
          <a:xfrm>
            <a:off x="6199632" y="379476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8" name="Icon FaDesktop" descr="Deskto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306" y="3926434"/>
            <a:ext cx="285293" cy="285293"/>
          </a:xfrm>
          <a:prstGeom prst="rect">
            <a:avLst/>
          </a:prstGeom>
        </p:spPr>
      </p:pic>
      <p:sp>
        <p:nvSpPr>
          <p:cNvPr id="29" name="Requirement text 6"/>
          <p:cNvSpPr txBox="1"/>
          <p:nvPr/>
        </p:nvSpPr>
        <p:spPr>
          <a:xfrm>
            <a:off x="6903720" y="3703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Delete a selected book record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3. Objectives</a:t>
            </a:r>
            <a:endParaRPr lang="en-US" sz="3400" dirty="0"/>
          </a:p>
        </p:txBody>
      </p:sp>
      <p:sp>
        <p:nvSpPr>
          <p:cNvPr id="4" name="Objective card 1"/>
          <p:cNvSpPr/>
          <p:nvPr/>
        </p:nvSpPr>
        <p:spPr>
          <a:xfrm>
            <a:off x="457200" y="123444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</p:spPr>
      </p:sp>
      <p:sp>
        <p:nvSpPr>
          <p:cNvPr id="5" name="Number 1"/>
          <p:cNvSpPr txBox="1"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Objective text 1"/>
          <p:cNvSpPr txBox="1"/>
          <p:nvPr/>
        </p:nvSpPr>
        <p:spPr>
          <a:xfrm>
            <a:off x="1188720" y="128016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Understand the Linux terminal and basic Bash scripting</a:t>
            </a:r>
            <a:endParaRPr lang="en-US" sz="1400" dirty="0"/>
          </a:p>
        </p:txBody>
      </p:sp>
      <p:sp>
        <p:nvSpPr>
          <p:cNvPr id="7" name="Objective card 2"/>
          <p:cNvSpPr/>
          <p:nvPr/>
        </p:nvSpPr>
        <p:spPr>
          <a:xfrm>
            <a:off x="457200" y="210312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</p:spPr>
      </p:sp>
      <p:sp>
        <p:nvSpPr>
          <p:cNvPr id="8" name="Number 2"/>
          <p:cNvSpPr txBox="1"/>
          <p:nvPr/>
        </p:nvSpPr>
        <p:spPr>
          <a:xfrm>
            <a:off x="594360" y="224028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Objective text 2"/>
          <p:cNvSpPr txBox="1"/>
          <p:nvPr/>
        </p:nvSpPr>
        <p:spPr>
          <a:xfrm>
            <a:off x="1188720" y="214884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Use variables and read for user input</a:t>
            </a:r>
            <a:endParaRPr lang="en-US" sz="1400" dirty="0"/>
          </a:p>
        </p:txBody>
      </p:sp>
      <p:sp>
        <p:nvSpPr>
          <p:cNvPr id="10" name="Objective card 3"/>
          <p:cNvSpPr/>
          <p:nvPr/>
        </p:nvSpPr>
        <p:spPr>
          <a:xfrm>
            <a:off x="457200" y="297180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</p:spPr>
      </p:sp>
      <p:sp>
        <p:nvSpPr>
          <p:cNvPr id="11" name="Number 3"/>
          <p:cNvSpPr txBox="1"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Objective text 3"/>
          <p:cNvSpPr txBox="1"/>
          <p:nvPr/>
        </p:nvSpPr>
        <p:spPr>
          <a:xfrm>
            <a:off x="1188720" y="301752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Use functions to organize menu operations</a:t>
            </a:r>
            <a:endParaRPr lang="en-US" sz="1400" dirty="0"/>
          </a:p>
        </p:txBody>
      </p:sp>
      <p:sp>
        <p:nvSpPr>
          <p:cNvPr id="13" name="Objective card 4"/>
          <p:cNvSpPr/>
          <p:nvPr/>
        </p:nvSpPr>
        <p:spPr>
          <a:xfrm>
            <a:off x="457200" y="384048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</p:spPr>
      </p:sp>
      <p:sp>
        <p:nvSpPr>
          <p:cNvPr id="14" name="Number 4"/>
          <p:cNvSpPr txBox="1"/>
          <p:nvPr/>
        </p:nvSpPr>
        <p:spPr>
          <a:xfrm>
            <a:off x="594360" y="397764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Objective text 4"/>
          <p:cNvSpPr txBox="1"/>
          <p:nvPr/>
        </p:nvSpPr>
        <p:spPr>
          <a:xfrm>
            <a:off x="1188720" y="388620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Read and update records in a text file</a:t>
            </a:r>
            <a:endParaRPr lang="en-US" sz="1400" dirty="0"/>
          </a:p>
        </p:txBody>
      </p:sp>
      <p:sp>
        <p:nvSpPr>
          <p:cNvPr id="16" name="Objective card 5"/>
          <p:cNvSpPr/>
          <p:nvPr/>
        </p:nvSpPr>
        <p:spPr>
          <a:xfrm>
            <a:off x="4663440" y="123444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</p:spPr>
      </p:sp>
      <p:sp>
        <p:nvSpPr>
          <p:cNvPr id="17" name="Number 5"/>
          <p:cNvSpPr txBox="1"/>
          <p:nvPr/>
        </p:nvSpPr>
        <p:spPr>
          <a:xfrm>
            <a:off x="4800600" y="13716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Objective text 5"/>
          <p:cNvSpPr txBox="1"/>
          <p:nvPr/>
        </p:nvSpPr>
        <p:spPr>
          <a:xfrm>
            <a:off x="5394960" y="128016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Apply case and if conditions for decisions</a:t>
            </a:r>
            <a:endParaRPr lang="en-US" sz="1400" dirty="0"/>
          </a:p>
        </p:txBody>
      </p:sp>
      <p:sp>
        <p:nvSpPr>
          <p:cNvPr id="19" name="Objective card 6"/>
          <p:cNvSpPr/>
          <p:nvPr/>
        </p:nvSpPr>
        <p:spPr>
          <a:xfrm>
            <a:off x="4663440" y="210312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</p:spPr>
      </p:sp>
      <p:sp>
        <p:nvSpPr>
          <p:cNvPr id="20" name="Number 6"/>
          <p:cNvSpPr txBox="1"/>
          <p:nvPr/>
        </p:nvSpPr>
        <p:spPr>
          <a:xfrm>
            <a:off x="4800600" y="224028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Objective text 6"/>
          <p:cNvSpPr txBox="1"/>
          <p:nvPr/>
        </p:nvSpPr>
        <p:spPr>
          <a:xfrm>
            <a:off x="5394960" y="214884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Validate book IDs and required text fields</a:t>
            </a:r>
            <a:endParaRPr lang="en-US" sz="1400" dirty="0"/>
          </a:p>
        </p:txBody>
      </p:sp>
      <p:sp>
        <p:nvSpPr>
          <p:cNvPr id="22" name="Objective card 7"/>
          <p:cNvSpPr/>
          <p:nvPr/>
        </p:nvSpPr>
        <p:spPr>
          <a:xfrm>
            <a:off x="4663440" y="297180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</p:spPr>
      </p:sp>
      <p:sp>
        <p:nvSpPr>
          <p:cNvPr id="23" name="Number 7"/>
          <p:cNvSpPr txBox="1"/>
          <p:nvPr/>
        </p:nvSpPr>
        <p:spPr>
          <a:xfrm>
            <a:off x="4800600" y="310896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Objective text 7"/>
          <p:cNvSpPr txBox="1"/>
          <p:nvPr/>
        </p:nvSpPr>
        <p:spPr>
          <a:xfrm>
            <a:off x="5394960" y="301752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Build a working command-line library application</a:t>
            </a:r>
            <a:endParaRPr lang="en-US" sz="1400" dirty="0"/>
          </a:p>
        </p:txBody>
      </p:sp>
      <p:sp>
        <p:nvSpPr>
          <p:cNvPr id="25" name="Concepts panel"/>
          <p:cNvSpPr/>
          <p:nvPr/>
        </p:nvSpPr>
        <p:spPr>
          <a:xfrm>
            <a:off x="4663440" y="3840480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</p:spPr>
      </p:sp>
      <p:sp>
        <p:nvSpPr>
          <p:cNvPr id="26" name="Concepts text"/>
          <p:cNvSpPr txBox="1"/>
          <p:nvPr/>
        </p:nvSpPr>
        <p:spPr>
          <a:xfrm>
            <a:off x="4846320" y="39319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read   case   if/else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while   chmod +x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4. Scope of the Project</a:t>
            </a:r>
            <a:endParaRPr lang="en-US" sz="3400" dirty="0"/>
          </a:p>
        </p:txBody>
      </p:sp>
      <p:sp>
        <p:nvSpPr>
          <p:cNvPr id="4" name="Stat card 1"/>
          <p:cNvSpPr/>
          <p:nvPr/>
        </p:nvSpPr>
        <p:spPr>
          <a:xfrm>
            <a:off x="457200" y="118872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</p:spPr>
      </p:sp>
      <p:sp>
        <p:nvSpPr>
          <p:cNvPr id="5" name="Stat number 1"/>
          <p:cNvSpPr txBox="1"/>
          <p:nvPr/>
        </p:nvSpPr>
        <p:spPr>
          <a:xfrm>
            <a:off x="640080" y="1188720"/>
            <a:ext cx="7315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4400" dirty="0"/>
          </a:p>
        </p:txBody>
      </p:sp>
      <p:sp>
        <p:nvSpPr>
          <p:cNvPr id="6" name="Stat label 1"/>
          <p:cNvSpPr txBox="1"/>
          <p:nvPr/>
        </p:nvSpPr>
        <p:spPr>
          <a:xfrm>
            <a:off x="1417320" y="1188720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book management actions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457200" y="233172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</p:spPr>
      </p:sp>
      <p:sp>
        <p:nvSpPr>
          <p:cNvPr id="8" name="Stat number 2"/>
          <p:cNvSpPr txBox="1"/>
          <p:nvPr/>
        </p:nvSpPr>
        <p:spPr>
          <a:xfrm>
            <a:off x="640080" y="2331720"/>
            <a:ext cx="7315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Stat label 2"/>
          <p:cNvSpPr txBox="1"/>
          <p:nvPr/>
        </p:nvSpPr>
        <p:spPr>
          <a:xfrm>
            <a:off x="1417320" y="2331720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text file for records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457200" y="347472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</p:spPr>
      </p:sp>
      <p:sp>
        <p:nvSpPr>
          <p:cNvPr id="11" name="Stat number 3"/>
          <p:cNvSpPr txBox="1"/>
          <p:nvPr/>
        </p:nvSpPr>
        <p:spPr>
          <a:xfrm>
            <a:off x="640080" y="3474720"/>
            <a:ext cx="7315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Stat label 3"/>
          <p:cNvSpPr txBox="1"/>
          <p:nvPr/>
        </p:nvSpPr>
        <p:spPr>
          <a:xfrm>
            <a:off x="1417320" y="3474720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databases or GUIs needed</a:t>
            </a:r>
            <a:endParaRPr lang="en-US" sz="1400" dirty="0"/>
          </a:p>
        </p:txBody>
      </p:sp>
      <p:sp>
        <p:nvSpPr>
          <p:cNvPr id="13" name="Scope row 1"/>
          <p:cNvSpPr/>
          <p:nvPr/>
        </p:nvSpPr>
        <p:spPr>
          <a:xfrm>
            <a:off x="3291840" y="1188720"/>
            <a:ext cx="53949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14" name="Scope label 1"/>
          <p:cNvSpPr txBox="1"/>
          <p:nvPr/>
        </p:nvSpPr>
        <p:spPr>
          <a:xfrm>
            <a:off x="3474720" y="1188720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Platform</a:t>
            </a:r>
            <a:endParaRPr lang="en-US" sz="1500" dirty="0"/>
          </a:p>
        </p:txBody>
      </p:sp>
      <p:sp>
        <p:nvSpPr>
          <p:cNvPr id="15" name="Scope value 1"/>
          <p:cNvSpPr txBox="1"/>
          <p:nvPr/>
        </p:nvSpPr>
        <p:spPr>
          <a:xfrm>
            <a:off x="4663440" y="1188720"/>
            <a:ext cx="39319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Ubuntu Linux / WSL</a:t>
            </a:r>
            <a:endParaRPr lang="en-US" sz="1400" dirty="0"/>
          </a:p>
        </p:txBody>
      </p:sp>
      <p:sp>
        <p:nvSpPr>
          <p:cNvPr id="16" name="Scope row 2"/>
          <p:cNvSpPr/>
          <p:nvPr/>
        </p:nvSpPr>
        <p:spPr>
          <a:xfrm>
            <a:off x="3291840" y="1865376"/>
            <a:ext cx="53949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17" name="Scope label 2"/>
          <p:cNvSpPr txBox="1"/>
          <p:nvPr/>
        </p:nvSpPr>
        <p:spPr>
          <a:xfrm>
            <a:off x="3474720" y="1865376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Interface</a:t>
            </a:r>
            <a:endParaRPr lang="en-US" sz="1500" dirty="0"/>
          </a:p>
        </p:txBody>
      </p:sp>
      <p:sp>
        <p:nvSpPr>
          <p:cNvPr id="18" name="Scope value 2"/>
          <p:cNvSpPr txBox="1"/>
          <p:nvPr/>
        </p:nvSpPr>
        <p:spPr>
          <a:xfrm>
            <a:off x="4663440" y="1865376"/>
            <a:ext cx="39319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Command-line terminal</a:t>
            </a:r>
            <a:endParaRPr lang="en-US" sz="1400" dirty="0"/>
          </a:p>
        </p:txBody>
      </p:sp>
      <p:sp>
        <p:nvSpPr>
          <p:cNvPr id="19" name="Scope row 3"/>
          <p:cNvSpPr/>
          <p:nvPr/>
        </p:nvSpPr>
        <p:spPr>
          <a:xfrm>
            <a:off x="3291840" y="2542032"/>
            <a:ext cx="53949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20" name="Scope label 3"/>
          <p:cNvSpPr txBox="1"/>
          <p:nvPr/>
        </p:nvSpPr>
        <p:spPr>
          <a:xfrm>
            <a:off x="3474720" y="2542032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Input</a:t>
            </a:r>
            <a:endParaRPr lang="en-US" sz="1500" dirty="0"/>
          </a:p>
        </p:txBody>
      </p:sp>
      <p:sp>
        <p:nvSpPr>
          <p:cNvPr id="21" name="Scope value 3"/>
          <p:cNvSpPr txBox="1"/>
          <p:nvPr/>
        </p:nvSpPr>
        <p:spPr>
          <a:xfrm>
            <a:off x="4663440" y="2542032"/>
            <a:ext cx="39319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Book ID, title, author and borrower name</a:t>
            </a:r>
            <a:endParaRPr lang="en-US" sz="1400" dirty="0"/>
          </a:p>
        </p:txBody>
      </p:sp>
      <p:sp>
        <p:nvSpPr>
          <p:cNvPr id="22" name="Scope row 4"/>
          <p:cNvSpPr/>
          <p:nvPr/>
        </p:nvSpPr>
        <p:spPr>
          <a:xfrm>
            <a:off x="3291840" y="3218688"/>
            <a:ext cx="53949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23" name="Scope label 4"/>
          <p:cNvSpPr txBox="1"/>
          <p:nvPr/>
        </p:nvSpPr>
        <p:spPr>
          <a:xfrm>
            <a:off x="3474720" y="3218688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Output</a:t>
            </a:r>
            <a:endParaRPr lang="en-US" sz="1500" dirty="0"/>
          </a:p>
        </p:txBody>
      </p:sp>
      <p:sp>
        <p:nvSpPr>
          <p:cNvPr id="24" name="Scope value 4"/>
          <p:cNvSpPr txBox="1"/>
          <p:nvPr/>
        </p:nvSpPr>
        <p:spPr>
          <a:xfrm>
            <a:off x="4663440" y="3218688"/>
            <a:ext cx="39319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Book details, status and messages</a:t>
            </a:r>
            <a:endParaRPr lang="en-US" sz="1400" dirty="0"/>
          </a:p>
        </p:txBody>
      </p:sp>
      <p:sp>
        <p:nvSpPr>
          <p:cNvPr id="25" name="Scope row 5"/>
          <p:cNvSpPr/>
          <p:nvPr/>
        </p:nvSpPr>
        <p:spPr>
          <a:xfrm>
            <a:off x="3291840" y="3895344"/>
            <a:ext cx="53949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26" name="Scope label 5"/>
          <p:cNvSpPr txBox="1"/>
          <p:nvPr/>
        </p:nvSpPr>
        <p:spPr>
          <a:xfrm>
            <a:off x="3474720" y="3895344"/>
            <a:ext cx="11887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Users</a:t>
            </a:r>
            <a:endParaRPr lang="en-US" sz="1500" dirty="0"/>
          </a:p>
        </p:txBody>
      </p:sp>
      <p:sp>
        <p:nvSpPr>
          <p:cNvPr id="27" name="Scope value 5"/>
          <p:cNvSpPr txBox="1"/>
          <p:nvPr/>
        </p:nvSpPr>
        <p:spPr>
          <a:xfrm>
            <a:off x="4663440" y="3895344"/>
            <a:ext cx="39319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Students or faculty learning basic shell scripting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5. Existing System</a:t>
            </a:r>
            <a:endParaRPr lang="en-US" sz="3400" dirty="0"/>
          </a:p>
        </p:txBody>
      </p:sp>
      <p:sp>
        <p:nvSpPr>
          <p:cNvPr id="4" name="Manual method card"/>
          <p:cNvSpPr/>
          <p:nvPr/>
        </p:nvSpPr>
        <p:spPr>
          <a:xfrm>
            <a:off x="457200" y="1280160"/>
            <a:ext cx="35661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</p:spPr>
      </p:sp>
      <p:sp>
        <p:nvSpPr>
          <p:cNvPr id="5" name="Icon circle FaCalculator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6" name="Icon FaCalculator" descr="Calculator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662379"/>
            <a:ext cx="332842" cy="332842"/>
          </a:xfrm>
          <a:prstGeom prst="rect">
            <a:avLst/>
          </a:prstGeom>
        </p:spPr>
      </p:pic>
      <p:sp>
        <p:nvSpPr>
          <p:cNvPr id="7" name="Manual title"/>
          <p:cNvSpPr txBox="1"/>
          <p:nvPr/>
        </p:nvSpPr>
        <p:spPr>
          <a:xfrm>
            <a:off x="685800" y="2286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Manual method</a:t>
            </a:r>
            <a:endParaRPr lang="en-US" sz="2000" dirty="0"/>
          </a:p>
        </p:txBody>
      </p:sp>
      <p:sp>
        <p:nvSpPr>
          <p:cNvPr id="8" name="Manual text"/>
          <p:cNvSpPr txBox="1"/>
          <p:nvPr/>
        </p:nvSpPr>
        <p:spPr>
          <a:xfrm>
            <a:off x="685800" y="2743200"/>
            <a:ext cx="310896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Books are recorded in registers or spreadsheets. Staff search for titles and update issue/return details manually.</a:t>
            </a:r>
            <a:endParaRPr lang="en-US" sz="1500" dirty="0"/>
          </a:p>
        </p:txBody>
      </p:sp>
      <p:sp>
        <p:nvSpPr>
          <p:cNvPr id="9" name="Limitations title"/>
          <p:cNvSpPr txBox="1"/>
          <p:nvPr/>
        </p:nvSpPr>
        <p:spPr>
          <a:xfrm>
            <a:off x="4389120" y="12801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10" name="Limitation card 1"/>
          <p:cNvSpPr/>
          <p:nvPr/>
        </p:nvSpPr>
        <p:spPr>
          <a:xfrm>
            <a:off x="4389120" y="1783080"/>
            <a:ext cx="429768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</p:spPr>
      </p:sp>
      <p:sp>
        <p:nvSpPr>
          <p:cNvPr id="11" name="Icon circle FaExclamationTriangle"/>
          <p:cNvSpPr/>
          <p:nvPr/>
        </p:nvSpPr>
        <p:spPr>
          <a:xfrm>
            <a:off x="4526280" y="1874520"/>
            <a:ext cx="438912" cy="438912"/>
          </a:xfrm>
          <a:prstGeom prst="ellipse">
            <a:avLst/>
          </a:prstGeom>
          <a:solidFill>
            <a:schemeClr val="accent5"/>
          </a:solidFill>
        </p:spPr>
      </p:sp>
      <p:pic>
        <p:nvPicPr>
          <p:cNvPr id="12" name="Icon FaExclamationTriangle" descr="ExclamationTriangle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619" y="1979859"/>
            <a:ext cx="228234" cy="228234"/>
          </a:xfrm>
          <a:prstGeom prst="rect">
            <a:avLst/>
          </a:prstGeom>
        </p:spPr>
      </p:pic>
      <p:sp>
        <p:nvSpPr>
          <p:cNvPr id="13" name="Limitation text 1"/>
          <p:cNvSpPr txBox="1"/>
          <p:nvPr/>
        </p:nvSpPr>
        <p:spPr>
          <a:xfrm>
            <a:off x="5120640" y="1783080"/>
            <a:ext cx="3474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Manual searching takes extra time</a:t>
            </a:r>
            <a:endParaRPr lang="en-US" sz="1400" dirty="0"/>
          </a:p>
        </p:txBody>
      </p:sp>
      <p:sp>
        <p:nvSpPr>
          <p:cNvPr id="14" name="Limitation card 2"/>
          <p:cNvSpPr/>
          <p:nvPr/>
        </p:nvSpPr>
        <p:spPr>
          <a:xfrm>
            <a:off x="4389120" y="2514600"/>
            <a:ext cx="429768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</p:spPr>
      </p:sp>
      <p:sp>
        <p:nvSpPr>
          <p:cNvPr id="15" name="Icon circle FaExclamationTriangle"/>
          <p:cNvSpPr/>
          <p:nvPr/>
        </p:nvSpPr>
        <p:spPr>
          <a:xfrm>
            <a:off x="4526280" y="2606040"/>
            <a:ext cx="438912" cy="438912"/>
          </a:xfrm>
          <a:prstGeom prst="ellipse">
            <a:avLst/>
          </a:prstGeom>
          <a:solidFill>
            <a:schemeClr val="accent5"/>
          </a:solidFill>
        </p:spPr>
      </p:sp>
      <p:pic>
        <p:nvPicPr>
          <p:cNvPr id="16" name="Icon FaExclamationTriangle" descr="ExclamationTriangle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619" y="2711379"/>
            <a:ext cx="228234" cy="228234"/>
          </a:xfrm>
          <a:prstGeom prst="rect">
            <a:avLst/>
          </a:prstGeom>
        </p:spPr>
      </p:pic>
      <p:sp>
        <p:nvSpPr>
          <p:cNvPr id="17" name="Limitation text 2"/>
          <p:cNvSpPr txBox="1"/>
          <p:nvPr/>
        </p:nvSpPr>
        <p:spPr>
          <a:xfrm>
            <a:off x="5120640" y="2514600"/>
            <a:ext cx="3474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Duplicate or incomplete entries can occur</a:t>
            </a:r>
            <a:endParaRPr lang="en-US" sz="1400" dirty="0"/>
          </a:p>
        </p:txBody>
      </p:sp>
      <p:sp>
        <p:nvSpPr>
          <p:cNvPr id="18" name="Limitation card 3"/>
          <p:cNvSpPr/>
          <p:nvPr/>
        </p:nvSpPr>
        <p:spPr>
          <a:xfrm>
            <a:off x="4389120" y="3246120"/>
            <a:ext cx="429768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</p:spPr>
      </p:sp>
      <p:sp>
        <p:nvSpPr>
          <p:cNvPr id="19" name="Icon circle FaExclamationTriangle"/>
          <p:cNvSpPr/>
          <p:nvPr/>
        </p:nvSpPr>
        <p:spPr>
          <a:xfrm>
            <a:off x="4526280" y="3337560"/>
            <a:ext cx="438912" cy="438912"/>
          </a:xfrm>
          <a:prstGeom prst="ellipse">
            <a:avLst/>
          </a:prstGeom>
          <a:solidFill>
            <a:schemeClr val="accent5"/>
          </a:solidFill>
        </p:spPr>
      </p:sp>
      <p:pic>
        <p:nvPicPr>
          <p:cNvPr id="20" name="Icon FaExclamationTriangle" descr="ExclamationTriangle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619" y="3442899"/>
            <a:ext cx="228234" cy="228234"/>
          </a:xfrm>
          <a:prstGeom prst="rect">
            <a:avLst/>
          </a:prstGeom>
        </p:spPr>
      </p:pic>
      <p:sp>
        <p:nvSpPr>
          <p:cNvPr id="21" name="Limitation text 3"/>
          <p:cNvSpPr txBox="1"/>
          <p:nvPr/>
        </p:nvSpPr>
        <p:spPr>
          <a:xfrm>
            <a:off x="5120640" y="3246120"/>
            <a:ext cx="3474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Availability may not be up to date</a:t>
            </a:r>
            <a:endParaRPr lang="en-US" sz="1400" dirty="0"/>
          </a:p>
        </p:txBody>
      </p:sp>
      <p:sp>
        <p:nvSpPr>
          <p:cNvPr id="22" name="Limitation card 4"/>
          <p:cNvSpPr/>
          <p:nvPr/>
        </p:nvSpPr>
        <p:spPr>
          <a:xfrm>
            <a:off x="4389120" y="3977640"/>
            <a:ext cx="429768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</p:spPr>
      </p:sp>
      <p:sp>
        <p:nvSpPr>
          <p:cNvPr id="23" name="Icon circle FaExclamationTriangle"/>
          <p:cNvSpPr/>
          <p:nvPr/>
        </p:nvSpPr>
        <p:spPr>
          <a:xfrm>
            <a:off x="4526280" y="4069080"/>
            <a:ext cx="438912" cy="438912"/>
          </a:xfrm>
          <a:prstGeom prst="ellipse">
            <a:avLst/>
          </a:prstGeom>
          <a:solidFill>
            <a:schemeClr val="accent5"/>
          </a:solidFill>
        </p:spPr>
      </p:sp>
      <p:pic>
        <p:nvPicPr>
          <p:cNvPr id="24" name="Icon FaExclamationTriangle" descr="ExclamationTriangle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619" y="4174419"/>
            <a:ext cx="228234" cy="228234"/>
          </a:xfrm>
          <a:prstGeom prst="rect">
            <a:avLst/>
          </a:prstGeom>
        </p:spPr>
      </p:pic>
      <p:sp>
        <p:nvSpPr>
          <p:cNvPr id="25" name="Limitation text 4"/>
          <p:cNvSpPr txBox="1"/>
          <p:nvPr/>
        </p:nvSpPr>
        <p:spPr>
          <a:xfrm>
            <a:off x="5120640" y="3977640"/>
            <a:ext cx="3474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Changes are not automated in Linux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6. Proposed System</a:t>
            </a:r>
            <a:endParaRPr lang="en-US" sz="3400" dirty="0"/>
          </a:p>
        </p:txBody>
      </p:sp>
      <p:sp>
        <p:nvSpPr>
          <p:cNvPr id="4" name="Step card 1"/>
          <p:cNvSpPr/>
          <p:nvPr/>
        </p:nvSpPr>
        <p:spPr>
          <a:xfrm>
            <a:off x="457200" y="128016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</p:spPr>
      </p:sp>
      <p:sp>
        <p:nvSpPr>
          <p:cNvPr id="5" name="Number 1"/>
          <p:cNvSpPr txBox="1"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text 1"/>
          <p:cNvSpPr txBox="1"/>
          <p:nvPr/>
        </p:nvSpPr>
        <p:spPr>
          <a:xfrm>
            <a:off x="594360" y="192024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Start the Bash script</a:t>
            </a:r>
            <a:endParaRPr lang="en-US" sz="1400" dirty="0"/>
          </a:p>
        </p:txBody>
      </p:sp>
      <p:sp>
        <p:nvSpPr>
          <p:cNvPr id="7" name="Step card 2"/>
          <p:cNvSpPr/>
          <p:nvPr/>
        </p:nvSpPr>
        <p:spPr>
          <a:xfrm>
            <a:off x="2560320" y="128016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</p:spPr>
      </p:sp>
      <p:sp>
        <p:nvSpPr>
          <p:cNvPr id="8" name="Number 2"/>
          <p:cNvSpPr txBox="1"/>
          <p:nvPr/>
        </p:nvSpPr>
        <p:spPr>
          <a:xfrm>
            <a:off x="2697480" y="1417320"/>
            <a:ext cx="411480" cy="41148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tep text 2"/>
          <p:cNvSpPr txBox="1"/>
          <p:nvPr/>
        </p:nvSpPr>
        <p:spPr>
          <a:xfrm>
            <a:off x="2697480" y="192024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Display the main menu</a:t>
            </a:r>
            <a:endParaRPr lang="en-US" sz="1400" dirty="0"/>
          </a:p>
        </p:txBody>
      </p:sp>
      <p:sp>
        <p:nvSpPr>
          <p:cNvPr id="10" name="Step card 3"/>
          <p:cNvSpPr/>
          <p:nvPr/>
        </p:nvSpPr>
        <p:spPr>
          <a:xfrm>
            <a:off x="4663440" y="128016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</p:spPr>
      </p:sp>
      <p:sp>
        <p:nvSpPr>
          <p:cNvPr id="11" name="Number 3"/>
          <p:cNvSpPr txBox="1"/>
          <p:nvPr/>
        </p:nvSpPr>
        <p:spPr>
          <a:xfrm>
            <a:off x="4800600" y="1417320"/>
            <a:ext cx="411480" cy="41148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Step text 3"/>
          <p:cNvSpPr txBox="1"/>
          <p:nvPr/>
        </p:nvSpPr>
        <p:spPr>
          <a:xfrm>
            <a:off x="4800600" y="192024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Choose an operation</a:t>
            </a:r>
            <a:endParaRPr lang="en-US" sz="1400" dirty="0"/>
          </a:p>
        </p:txBody>
      </p:sp>
      <p:sp>
        <p:nvSpPr>
          <p:cNvPr id="13" name="Step card 4"/>
          <p:cNvSpPr/>
          <p:nvPr/>
        </p:nvSpPr>
        <p:spPr>
          <a:xfrm>
            <a:off x="6766560" y="128016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</p:spPr>
      </p:sp>
      <p:sp>
        <p:nvSpPr>
          <p:cNvPr id="14" name="Number 4"/>
          <p:cNvSpPr txBox="1"/>
          <p:nvPr/>
        </p:nvSpPr>
        <p:spPr>
          <a:xfrm>
            <a:off x="6903720" y="1417320"/>
            <a:ext cx="411480" cy="41148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Step text 4"/>
          <p:cNvSpPr txBox="1"/>
          <p:nvPr/>
        </p:nvSpPr>
        <p:spPr>
          <a:xfrm>
            <a:off x="6903720" y="192024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Add or view book records</a:t>
            </a:r>
            <a:endParaRPr lang="en-US" sz="1400" dirty="0"/>
          </a:p>
        </p:txBody>
      </p:sp>
      <p:sp>
        <p:nvSpPr>
          <p:cNvPr id="16" name="Step card 5"/>
          <p:cNvSpPr/>
          <p:nvPr/>
        </p:nvSpPr>
        <p:spPr>
          <a:xfrm>
            <a:off x="457200" y="292608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</p:spPr>
      </p:sp>
      <p:sp>
        <p:nvSpPr>
          <p:cNvPr id="17" name="Number 5"/>
          <p:cNvSpPr txBox="1"/>
          <p:nvPr/>
        </p:nvSpPr>
        <p:spPr>
          <a:xfrm>
            <a:off x="594360" y="3063240"/>
            <a:ext cx="411480" cy="41148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Step text 5"/>
          <p:cNvSpPr txBox="1"/>
          <p:nvPr/>
        </p:nvSpPr>
        <p:spPr>
          <a:xfrm>
            <a:off x="594360" y="356616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Search by Book ID or title</a:t>
            </a:r>
            <a:endParaRPr lang="en-US" sz="1400" dirty="0"/>
          </a:p>
        </p:txBody>
      </p:sp>
      <p:sp>
        <p:nvSpPr>
          <p:cNvPr id="19" name="Step card 6"/>
          <p:cNvSpPr/>
          <p:nvPr/>
        </p:nvSpPr>
        <p:spPr>
          <a:xfrm>
            <a:off x="2560320" y="292608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</p:spPr>
      </p:sp>
      <p:sp>
        <p:nvSpPr>
          <p:cNvPr id="20" name="Number 6"/>
          <p:cNvSpPr txBox="1"/>
          <p:nvPr/>
        </p:nvSpPr>
        <p:spPr>
          <a:xfrm>
            <a:off x="2697480" y="3063240"/>
            <a:ext cx="411480" cy="41148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Step text 6"/>
          <p:cNvSpPr txBox="1"/>
          <p:nvPr/>
        </p:nvSpPr>
        <p:spPr>
          <a:xfrm>
            <a:off x="2697480" y="356616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Issue or return a book</a:t>
            </a:r>
            <a:endParaRPr lang="en-US" sz="1400" dirty="0"/>
          </a:p>
        </p:txBody>
      </p:sp>
      <p:sp>
        <p:nvSpPr>
          <p:cNvPr id="22" name="Step card 7"/>
          <p:cNvSpPr/>
          <p:nvPr/>
        </p:nvSpPr>
        <p:spPr>
          <a:xfrm>
            <a:off x="4663440" y="292608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</p:spPr>
      </p:sp>
      <p:sp>
        <p:nvSpPr>
          <p:cNvPr id="23" name="Number 7"/>
          <p:cNvSpPr txBox="1"/>
          <p:nvPr/>
        </p:nvSpPr>
        <p:spPr>
          <a:xfrm>
            <a:off x="4800600" y="3063240"/>
            <a:ext cx="411480" cy="41148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Step text 7"/>
          <p:cNvSpPr txBox="1"/>
          <p:nvPr/>
        </p:nvSpPr>
        <p:spPr>
          <a:xfrm>
            <a:off x="4800600" y="356616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Update books.txt after changes</a:t>
            </a:r>
            <a:endParaRPr lang="en-US" sz="1400" dirty="0"/>
          </a:p>
        </p:txBody>
      </p:sp>
      <p:sp>
        <p:nvSpPr>
          <p:cNvPr id="25" name="Step card 8"/>
          <p:cNvSpPr/>
          <p:nvPr/>
        </p:nvSpPr>
        <p:spPr>
          <a:xfrm>
            <a:off x="6766560" y="292608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</p:spPr>
      </p:sp>
      <p:sp>
        <p:nvSpPr>
          <p:cNvPr id="26" name="Number 8"/>
          <p:cNvSpPr txBox="1"/>
          <p:nvPr/>
        </p:nvSpPr>
        <p:spPr>
          <a:xfrm>
            <a:off x="6903720" y="3063240"/>
            <a:ext cx="411480" cy="4114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</a:t>
            </a:r>
            <a:endParaRPr lang="en-US" sz="1400" dirty="0"/>
          </a:p>
        </p:txBody>
      </p:sp>
      <p:sp>
        <p:nvSpPr>
          <p:cNvPr id="27" name="Step text 8"/>
          <p:cNvSpPr txBox="1"/>
          <p:nvPr/>
        </p:nvSpPr>
        <p:spPr>
          <a:xfrm>
            <a:off x="6903720" y="356616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Repeat the menu or exit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7. Requirements</a:t>
            </a:r>
            <a:endParaRPr lang="en-US" sz="3400" dirty="0"/>
          </a:p>
        </p:txBody>
      </p:sp>
      <p:sp>
        <p:nvSpPr>
          <p:cNvPr id="4" name="Requirements card 1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</p:spPr>
      </p:sp>
      <p:sp>
        <p:nvSpPr>
          <p:cNvPr id="5" name="Icon circle FaMicrochip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6" name="Icon FaMicrochip" descr="Microchip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662379"/>
            <a:ext cx="332842" cy="332842"/>
          </a:xfrm>
          <a:prstGeom prst="rect">
            <a:avLst/>
          </a:prstGeom>
        </p:spPr>
      </p:pic>
      <p:sp>
        <p:nvSpPr>
          <p:cNvPr id="7" name="Requirements title 1"/>
          <p:cNvSpPr txBox="1"/>
          <p:nvPr/>
        </p:nvSpPr>
        <p:spPr>
          <a:xfrm>
            <a:off x="1508760" y="15087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Hardware</a:t>
            </a:r>
            <a:endParaRPr lang="en-US" sz="2200" dirty="0"/>
          </a:p>
        </p:txBody>
      </p:sp>
      <p:sp>
        <p:nvSpPr>
          <p:cNvPr id="8" name="Requirements list 1"/>
          <p:cNvSpPr txBox="1"/>
          <p:nvPr/>
        </p:nvSpPr>
        <p:spPr>
          <a:xfrm>
            <a:off x="777240" y="2423160"/>
            <a:ext cx="347472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Computer or laptop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Keyboard and display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Minimum 4 GB RAM recommended</a:t>
            </a:r>
            <a:endParaRPr lang="en-US" sz="1600" dirty="0"/>
          </a:p>
        </p:txBody>
      </p:sp>
      <p:sp>
        <p:nvSpPr>
          <p:cNvPr id="9" name="Requirements card 2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</p:spPr>
      </p:sp>
      <p:sp>
        <p:nvSpPr>
          <p:cNvPr id="10" name="Icon circle FaLinux"/>
          <p:cNvSpPr/>
          <p:nvPr/>
        </p:nvSpPr>
        <p:spPr>
          <a:xfrm>
            <a:off x="4937760" y="150876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1" name="Icon FaLinux" descr="Linux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379" y="1662379"/>
            <a:ext cx="332842" cy="332842"/>
          </a:xfrm>
          <a:prstGeom prst="rect">
            <a:avLst/>
          </a:prstGeom>
        </p:spPr>
      </p:pic>
      <p:sp>
        <p:nvSpPr>
          <p:cNvPr id="12" name="Requirements title 2"/>
          <p:cNvSpPr txBox="1"/>
          <p:nvPr/>
        </p:nvSpPr>
        <p:spPr>
          <a:xfrm>
            <a:off x="5715000" y="15087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Software</a:t>
            </a:r>
            <a:endParaRPr lang="en-US" sz="2200" dirty="0"/>
          </a:p>
        </p:txBody>
      </p:sp>
      <p:sp>
        <p:nvSpPr>
          <p:cNvPr id="13" name="Requirements list 2"/>
          <p:cNvSpPr txBox="1"/>
          <p:nvPr/>
        </p:nvSpPr>
        <p:spPr>
          <a:xfrm>
            <a:off x="4983480" y="2423160"/>
            <a:ext cx="347472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Ubuntu Linux or Ubuntu through WSL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Bash shell and terminal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Text editor such as nano or vim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writable project folder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8. System Design</a:t>
            </a:r>
            <a:endParaRPr lang="en-US" sz="3400" dirty="0"/>
          </a:p>
        </p:txBody>
      </p:sp>
      <p:sp>
        <p:nvSpPr>
          <p:cNvPr id="4" name="Design card 1"/>
          <p:cNvSpPr/>
          <p:nvPr/>
        </p:nvSpPr>
        <p:spPr>
          <a:xfrm>
            <a:off x="45720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bg2"/>
          </a:solidFill>
        </p:spPr>
      </p:sp>
      <p:sp>
        <p:nvSpPr>
          <p:cNvPr id="5" name="Icon circle FaKeyboard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6" name="Icon FaKeyboard" descr="Keyboard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594714"/>
            <a:ext cx="285293" cy="285293"/>
          </a:xfrm>
          <a:prstGeom prst="rect">
            <a:avLst/>
          </a:prstGeom>
        </p:spPr>
      </p:pic>
      <p:sp>
        <p:nvSpPr>
          <p:cNvPr id="7" name="Design title 1"/>
          <p:cNvSpPr txBox="1"/>
          <p:nvPr/>
        </p:nvSpPr>
        <p:spPr>
          <a:xfrm>
            <a:off x="1371600" y="146304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Input</a:t>
            </a:r>
            <a:endParaRPr lang="en-US" sz="2000" dirty="0"/>
          </a:p>
        </p:txBody>
      </p:sp>
      <p:sp>
        <p:nvSpPr>
          <p:cNvPr id="8" name="Design list 1"/>
          <p:cNvSpPr txBox="1"/>
          <p:nvPr/>
        </p:nvSpPr>
        <p:spPr>
          <a:xfrm>
            <a:off x="685800" y="2240280"/>
            <a:ext cx="2194560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 ID, title and author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Borrower name for issue</a:t>
            </a:r>
            <a:endParaRPr lang="en-US" sz="1400" dirty="0"/>
          </a:p>
        </p:txBody>
      </p:sp>
      <p:sp>
        <p:nvSpPr>
          <p:cNvPr id="9" name="Design card 2"/>
          <p:cNvSpPr/>
          <p:nvPr/>
        </p:nvSpPr>
        <p:spPr>
          <a:xfrm>
            <a:off x="326898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bg2"/>
          </a:solidFill>
        </p:spPr>
      </p:sp>
      <p:sp>
        <p:nvSpPr>
          <p:cNvPr id="10" name="Icon circle FaCogs"/>
          <p:cNvSpPr/>
          <p:nvPr/>
        </p:nvSpPr>
        <p:spPr>
          <a:xfrm>
            <a:off x="3497580" y="146304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1" name="Icon FaCogs" descr="Cogs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254" y="1594714"/>
            <a:ext cx="285293" cy="285293"/>
          </a:xfrm>
          <a:prstGeom prst="rect">
            <a:avLst/>
          </a:prstGeom>
        </p:spPr>
      </p:pic>
      <p:sp>
        <p:nvSpPr>
          <p:cNvPr id="12" name="Design title 2"/>
          <p:cNvSpPr txBox="1"/>
          <p:nvPr/>
        </p:nvSpPr>
        <p:spPr>
          <a:xfrm>
            <a:off x="4183380" y="146304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Processing</a:t>
            </a:r>
            <a:endParaRPr lang="en-US" sz="2000" dirty="0"/>
          </a:p>
        </p:txBody>
      </p:sp>
      <p:sp>
        <p:nvSpPr>
          <p:cNvPr id="13" name="Design list 2"/>
          <p:cNvSpPr txBox="1"/>
          <p:nvPr/>
        </p:nvSpPr>
        <p:spPr>
          <a:xfrm>
            <a:off x="3497580" y="2240280"/>
            <a:ext cx="2194560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 and write books.txt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for duplicate Book IDs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 by ID or title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Update Available / Issued status</a:t>
            </a:r>
            <a:endParaRPr lang="en-US" sz="1400" dirty="0"/>
          </a:p>
        </p:txBody>
      </p:sp>
      <p:sp>
        <p:nvSpPr>
          <p:cNvPr id="14" name="Design card 3"/>
          <p:cNvSpPr/>
          <p:nvPr/>
        </p:nvSpPr>
        <p:spPr>
          <a:xfrm>
            <a:off x="608076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bg2"/>
          </a:solidFill>
        </p:spPr>
      </p:sp>
      <p:sp>
        <p:nvSpPr>
          <p:cNvPr id="15" name="Icon circle FaDesktop"/>
          <p:cNvSpPr/>
          <p:nvPr/>
        </p:nvSpPr>
        <p:spPr>
          <a:xfrm>
            <a:off x="6309360" y="146304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6" name="Icon FaDesktop" descr="Deskto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034" y="1594714"/>
            <a:ext cx="285293" cy="285293"/>
          </a:xfrm>
          <a:prstGeom prst="rect">
            <a:avLst/>
          </a:prstGeom>
        </p:spPr>
      </p:pic>
      <p:sp>
        <p:nvSpPr>
          <p:cNvPr id="17" name="Design title 3"/>
          <p:cNvSpPr txBox="1"/>
          <p:nvPr/>
        </p:nvSpPr>
        <p:spPr>
          <a:xfrm>
            <a:off x="6995160" y="146304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Output</a:t>
            </a:r>
            <a:endParaRPr lang="en-US" sz="2000" dirty="0"/>
          </a:p>
        </p:txBody>
      </p:sp>
      <p:sp>
        <p:nvSpPr>
          <p:cNvPr id="18" name="Design list 3"/>
          <p:cNvSpPr txBox="1"/>
          <p:nvPr/>
        </p:nvSpPr>
        <p:spPr>
          <a:xfrm>
            <a:off x="6309360" y="2240280"/>
            <a:ext cx="2194560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 list and details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 results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Issue / return confirmation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Availability and borrower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Success or error messages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8. System Design: Book Operations</a:t>
            </a:r>
            <a:endParaRPr lang="en-US" sz="3400" dirty="0"/>
          </a:p>
        </p:txBody>
      </p:sp>
      <p:graphicFrame>
        <p:nvGraphicFramePr>
          <p:cNvPr id="11" name="Grade table"/>
          <p:cNvGraphicFramePr>
            <a:graphicFrameLocks noGrp="1"/>
          </p:cNvGraphicFramePr>
          <p:nvPr/>
        </p:nvGraphicFramePr>
        <p:xfrm>
          <a:off x="457200" y="1280160"/>
          <a:ext cx="5120640" cy="3145536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2377440"/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Input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System action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 Book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ID, title, author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Save new book as Available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View All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List every stored book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Search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ID or title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Show matching records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Issue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ID and borrower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Available -&gt; Issued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Return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Book 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Issued -&gt; Available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Delete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Book ID, confirm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Remove the selected record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Exit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End the program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Fail rule card"/>
          <p:cNvSpPr/>
          <p:nvPr/>
        </p:nvSpPr>
        <p:spPr>
          <a:xfrm>
            <a:off x="5943600" y="1280160"/>
            <a:ext cx="2743200" cy="3145536"/>
          </a:xfrm>
          <a:prstGeom prst="roundRect">
            <a:avLst>
              <a:gd name="adj" fmla="val 4000"/>
            </a:avLst>
          </a:prstGeom>
          <a:solidFill>
            <a:schemeClr val="bg2"/>
          </a:solidFill>
        </p:spPr>
      </p:sp>
      <p:sp>
        <p:nvSpPr>
          <p:cNvPr id="6" name="Icon circle FaExclamationTriangle"/>
          <p:cNvSpPr/>
          <p:nvPr/>
        </p:nvSpPr>
        <p:spPr>
          <a:xfrm>
            <a:off x="6172200" y="1508760"/>
            <a:ext cx="594360" cy="59436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7" name="Icon FaExclamationTriangle" descr="ExclamationTriang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4846" y="1651406"/>
            <a:ext cx="309067" cy="309067"/>
          </a:xfrm>
          <a:prstGeom prst="rect">
            <a:avLst/>
          </a:prstGeom>
        </p:spPr>
      </p:pic>
      <p:sp>
        <p:nvSpPr>
          <p:cNvPr id="8" name="Fail rule title"/>
          <p:cNvSpPr txBox="1"/>
          <p:nvPr/>
        </p:nvSpPr>
        <p:spPr>
          <a:xfrm>
            <a:off x="6172200" y="22860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Storage rule</a:t>
            </a:r>
            <a:endParaRPr lang="en-US" sz="2000" dirty="0"/>
          </a:p>
        </p:txBody>
      </p:sp>
      <p:sp>
        <p:nvSpPr>
          <p:cNvPr id="9" name="Fail rule text"/>
          <p:cNvSpPr txBox="1"/>
          <p:nvPr/>
        </p:nvSpPr>
        <p:spPr>
          <a:xfrm>
            <a:off x="6172200" y="2743200"/>
            <a:ext cx="23317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Each row in books.txt stores ID, title, author, status and borrower. Issue and return actions update the status; a return clears the borrower.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8. System Design: Flowchart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6" name="Picture 25" descr="library_flow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3383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9. Algorithm</a:t>
            </a:r>
            <a:endParaRPr lang="en-US" sz="3400" dirty="0"/>
          </a:p>
        </p:txBody>
      </p:sp>
      <p:sp>
        <p:nvSpPr>
          <p:cNvPr id="4" name="Algorithm card 1"/>
          <p:cNvSpPr/>
          <p:nvPr/>
        </p:nvSpPr>
        <p:spPr>
          <a:xfrm>
            <a:off x="457200" y="1234440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5" name="Number 1"/>
          <p:cNvSpPr txBox="1"/>
          <p:nvPr/>
        </p:nvSpPr>
        <p:spPr>
          <a:xfrm>
            <a:off x="566928" y="1316736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Algorithm text 1"/>
          <p:cNvSpPr txBox="1"/>
          <p:nvPr/>
        </p:nvSpPr>
        <p:spPr>
          <a:xfrm>
            <a:off x="1143000" y="1234440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Start</a:t>
            </a:r>
            <a:endParaRPr lang="en-US" sz="1400" dirty="0"/>
          </a:p>
        </p:txBody>
      </p:sp>
      <p:sp>
        <p:nvSpPr>
          <p:cNvPr id="7" name="Algorithm card 2"/>
          <p:cNvSpPr/>
          <p:nvPr/>
        </p:nvSpPr>
        <p:spPr>
          <a:xfrm>
            <a:off x="457200" y="1911096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8" name="Number 2"/>
          <p:cNvSpPr txBox="1"/>
          <p:nvPr/>
        </p:nvSpPr>
        <p:spPr>
          <a:xfrm>
            <a:off x="566928" y="1993392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Algorithm text 2"/>
          <p:cNvSpPr txBox="1"/>
          <p:nvPr/>
        </p:nvSpPr>
        <p:spPr>
          <a:xfrm>
            <a:off x="1143000" y="1911096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Open or create books.txt</a:t>
            </a:r>
            <a:endParaRPr lang="en-US" sz="1400" dirty="0"/>
          </a:p>
        </p:txBody>
      </p:sp>
      <p:sp>
        <p:nvSpPr>
          <p:cNvPr id="10" name="Algorithm card 3"/>
          <p:cNvSpPr/>
          <p:nvPr/>
        </p:nvSpPr>
        <p:spPr>
          <a:xfrm>
            <a:off x="457200" y="2587752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11" name="Number 3"/>
          <p:cNvSpPr txBox="1"/>
          <p:nvPr/>
        </p:nvSpPr>
        <p:spPr>
          <a:xfrm>
            <a:off x="566928" y="2670048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Algorithm text 3"/>
          <p:cNvSpPr txBox="1"/>
          <p:nvPr/>
        </p:nvSpPr>
        <p:spPr>
          <a:xfrm>
            <a:off x="1143000" y="2587752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Display the main menu</a:t>
            </a:r>
            <a:endParaRPr lang="en-US" sz="1400" dirty="0"/>
          </a:p>
        </p:txBody>
      </p:sp>
      <p:sp>
        <p:nvSpPr>
          <p:cNvPr id="13" name="Algorithm card 4"/>
          <p:cNvSpPr/>
          <p:nvPr/>
        </p:nvSpPr>
        <p:spPr>
          <a:xfrm>
            <a:off x="457200" y="3264408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14" name="Number 4"/>
          <p:cNvSpPr txBox="1"/>
          <p:nvPr/>
        </p:nvSpPr>
        <p:spPr>
          <a:xfrm>
            <a:off x="566928" y="3346704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Algorithm text 4"/>
          <p:cNvSpPr txBox="1"/>
          <p:nvPr/>
        </p:nvSpPr>
        <p:spPr>
          <a:xfrm>
            <a:off x="1143000" y="3264408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Read and validate the choice</a:t>
            </a:r>
            <a:endParaRPr lang="en-US" sz="1400" dirty="0"/>
          </a:p>
        </p:txBody>
      </p:sp>
      <p:sp>
        <p:nvSpPr>
          <p:cNvPr id="16" name="Algorithm card 5"/>
          <p:cNvSpPr/>
          <p:nvPr/>
        </p:nvSpPr>
        <p:spPr>
          <a:xfrm>
            <a:off x="457200" y="3941064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17" name="Number 5"/>
          <p:cNvSpPr txBox="1"/>
          <p:nvPr/>
        </p:nvSpPr>
        <p:spPr>
          <a:xfrm>
            <a:off x="566928" y="4023360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Algorithm text 5"/>
          <p:cNvSpPr txBox="1"/>
          <p:nvPr/>
        </p:nvSpPr>
        <p:spPr>
          <a:xfrm>
            <a:off x="1143000" y="3941064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Read the required book details or ID</a:t>
            </a:r>
            <a:endParaRPr lang="en-US" sz="1400" dirty="0"/>
          </a:p>
        </p:txBody>
      </p:sp>
      <p:sp>
        <p:nvSpPr>
          <p:cNvPr id="19" name="Algorithm card 6"/>
          <p:cNvSpPr/>
          <p:nvPr/>
        </p:nvSpPr>
        <p:spPr>
          <a:xfrm>
            <a:off x="4663440" y="1234440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20" name="Number 6"/>
          <p:cNvSpPr txBox="1"/>
          <p:nvPr/>
        </p:nvSpPr>
        <p:spPr>
          <a:xfrm>
            <a:off x="4773168" y="1316736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Algorithm text 6"/>
          <p:cNvSpPr txBox="1"/>
          <p:nvPr/>
        </p:nvSpPr>
        <p:spPr>
          <a:xfrm>
            <a:off x="5349240" y="1234440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Search the stored records</a:t>
            </a:r>
            <a:endParaRPr lang="en-US" sz="1400" dirty="0"/>
          </a:p>
        </p:txBody>
      </p:sp>
      <p:sp>
        <p:nvSpPr>
          <p:cNvPr id="22" name="Algorithm card 7"/>
          <p:cNvSpPr/>
          <p:nvPr/>
        </p:nvSpPr>
        <p:spPr>
          <a:xfrm>
            <a:off x="4663440" y="1911096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23" name="Number 7"/>
          <p:cNvSpPr txBox="1"/>
          <p:nvPr/>
        </p:nvSpPr>
        <p:spPr>
          <a:xfrm>
            <a:off x="4773168" y="1993392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Algorithm text 7"/>
          <p:cNvSpPr txBox="1"/>
          <p:nvPr/>
        </p:nvSpPr>
        <p:spPr>
          <a:xfrm>
            <a:off x="5349240" y="1911096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Perform the selected operation</a:t>
            </a:r>
            <a:endParaRPr lang="en-US" sz="1400" dirty="0"/>
          </a:p>
        </p:txBody>
      </p:sp>
      <p:sp>
        <p:nvSpPr>
          <p:cNvPr id="25" name="Algorithm card 8"/>
          <p:cNvSpPr/>
          <p:nvPr/>
        </p:nvSpPr>
        <p:spPr>
          <a:xfrm>
            <a:off x="4663440" y="2587752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26" name="Number 8"/>
          <p:cNvSpPr txBox="1"/>
          <p:nvPr/>
        </p:nvSpPr>
        <p:spPr>
          <a:xfrm>
            <a:off x="4773168" y="2670048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7" name="Algorithm text 8"/>
          <p:cNvSpPr txBox="1"/>
          <p:nvPr/>
        </p:nvSpPr>
        <p:spPr>
          <a:xfrm>
            <a:off x="5349240" y="2587752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Save changes to books.txt</a:t>
            </a:r>
            <a:endParaRPr lang="en-US" sz="1400" dirty="0"/>
          </a:p>
        </p:txBody>
      </p:sp>
      <p:sp>
        <p:nvSpPr>
          <p:cNvPr id="28" name="Algorithm card 9"/>
          <p:cNvSpPr/>
          <p:nvPr/>
        </p:nvSpPr>
        <p:spPr>
          <a:xfrm>
            <a:off x="4663440" y="3264408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29" name="Number 9"/>
          <p:cNvSpPr txBox="1"/>
          <p:nvPr/>
        </p:nvSpPr>
        <p:spPr>
          <a:xfrm>
            <a:off x="4773168" y="3346704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30" name="Algorithm text 9"/>
          <p:cNvSpPr txBox="1"/>
          <p:nvPr/>
        </p:nvSpPr>
        <p:spPr>
          <a:xfrm>
            <a:off x="5349240" y="3264408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Display the result and repeat</a:t>
            </a:r>
            <a:endParaRPr lang="en-US" sz="1400" dirty="0"/>
          </a:p>
        </p:txBody>
      </p:sp>
      <p:sp>
        <p:nvSpPr>
          <p:cNvPr id="31" name="Algorithm card 10"/>
          <p:cNvSpPr/>
          <p:nvPr/>
        </p:nvSpPr>
        <p:spPr>
          <a:xfrm>
            <a:off x="4663440" y="3941064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32" name="Number 10"/>
          <p:cNvSpPr txBox="1"/>
          <p:nvPr/>
        </p:nvSpPr>
        <p:spPr>
          <a:xfrm>
            <a:off x="4773168" y="4023360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33" name="Algorithm text 10"/>
          <p:cNvSpPr txBox="1"/>
          <p:nvPr/>
        </p:nvSpPr>
        <p:spPr>
          <a:xfrm>
            <a:off x="5349240" y="3941064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Stop when Exit is selected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10. Implementation</a:t>
            </a:r>
            <a:endParaRPr lang="en-US" sz="3400" dirty="0"/>
          </a:p>
        </p:txBody>
      </p:sp>
      <p:sp>
        <p:nvSpPr>
          <p:cNvPr id="4" name="Command card 1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</p:spPr>
      </p:sp>
      <p:sp>
        <p:nvSpPr>
          <p:cNvPr id="5" name="Number 1"/>
          <p:cNvSpPr txBox="1"/>
          <p:nvPr/>
        </p:nvSpPr>
        <p:spPr>
          <a:xfrm>
            <a:off x="594360" y="1371600"/>
            <a:ext cx="365760" cy="36576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Command title 1"/>
          <p:cNvSpPr txBox="1"/>
          <p:nvPr/>
        </p:nvSpPr>
        <p:spPr>
          <a:xfrm>
            <a:off x="1097280" y="137160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Create the project directory</a:t>
            </a:r>
            <a:endParaRPr lang="en-US" sz="1500" dirty="0"/>
          </a:p>
        </p:txBody>
      </p:sp>
      <p:sp>
        <p:nvSpPr>
          <p:cNvPr id="7" name="Command panel 1"/>
          <p:cNvSpPr/>
          <p:nvPr/>
        </p:nvSpPr>
        <p:spPr>
          <a:xfrm>
            <a:off x="640080" y="1920240"/>
            <a:ext cx="36576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</p:spPr>
      </p:sp>
      <p:sp>
        <p:nvSpPr>
          <p:cNvPr id="8" name="Command text 1"/>
          <p:cNvSpPr txBox="1"/>
          <p:nvPr/>
        </p:nvSpPr>
        <p:spPr>
          <a:xfrm>
            <a:off x="777240" y="192024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mkdir library_book_project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cd library_book_project</a:t>
            </a:r>
            <a:endParaRPr lang="en-US" sz="1300" dirty="0"/>
          </a:p>
        </p:txBody>
      </p:sp>
      <p:sp>
        <p:nvSpPr>
          <p:cNvPr id="9" name="Command card 2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</p:spPr>
      </p:sp>
      <p:sp>
        <p:nvSpPr>
          <p:cNvPr id="10" name="Number 2"/>
          <p:cNvSpPr txBox="1"/>
          <p:nvPr/>
        </p:nvSpPr>
        <p:spPr>
          <a:xfrm>
            <a:off x="4800600" y="1371600"/>
            <a:ext cx="365760" cy="36576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Command title 2"/>
          <p:cNvSpPr txBox="1"/>
          <p:nvPr/>
        </p:nvSpPr>
        <p:spPr>
          <a:xfrm>
            <a:off x="5303520" y="137160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Create the Bash file</a:t>
            </a:r>
            <a:endParaRPr lang="en-US" sz="1500" dirty="0"/>
          </a:p>
        </p:txBody>
      </p:sp>
      <p:sp>
        <p:nvSpPr>
          <p:cNvPr id="12" name="Command panel 2"/>
          <p:cNvSpPr/>
          <p:nvPr/>
        </p:nvSpPr>
        <p:spPr>
          <a:xfrm>
            <a:off x="4846320" y="1920240"/>
            <a:ext cx="36576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</p:spPr>
      </p:sp>
      <p:sp>
        <p:nvSpPr>
          <p:cNvPr id="13" name="Command text 2"/>
          <p:cNvSpPr txBox="1"/>
          <p:nvPr/>
        </p:nvSpPr>
        <p:spPr>
          <a:xfrm>
            <a:off x="4983480" y="192024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nano library.sh</a:t>
            </a:r>
            <a:endParaRPr lang="en-US" sz="1300" dirty="0"/>
          </a:p>
        </p:txBody>
      </p:sp>
      <p:sp>
        <p:nvSpPr>
          <p:cNvPr id="14" name="Command card 3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</p:spPr>
      </p:sp>
      <p:sp>
        <p:nvSpPr>
          <p:cNvPr id="15" name="Number 3"/>
          <p:cNvSpPr txBox="1"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Command title 3"/>
          <p:cNvSpPr txBox="1"/>
          <p:nvPr/>
        </p:nvSpPr>
        <p:spPr>
          <a:xfrm>
            <a:off x="1097280" y="306324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Prepare the record file</a:t>
            </a:r>
            <a:endParaRPr lang="en-US" sz="1500" dirty="0"/>
          </a:p>
        </p:txBody>
      </p:sp>
      <p:sp>
        <p:nvSpPr>
          <p:cNvPr id="17" name="Command panel 3"/>
          <p:cNvSpPr/>
          <p:nvPr/>
        </p:nvSpPr>
        <p:spPr>
          <a:xfrm>
            <a:off x="640080" y="3611880"/>
            <a:ext cx="36576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</p:spPr>
      </p:sp>
      <p:sp>
        <p:nvSpPr>
          <p:cNvPr id="18" name="Command text 3"/>
          <p:cNvSpPr txBox="1"/>
          <p:nvPr/>
        </p:nvSpPr>
        <p:spPr>
          <a:xfrm>
            <a:off x="777240" y="361188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touch books.txt</a:t>
            </a:r>
            <a:endParaRPr lang="en-US" sz="1300" dirty="0"/>
          </a:p>
        </p:txBody>
      </p:sp>
      <p:sp>
        <p:nvSpPr>
          <p:cNvPr id="19" name="Command card 4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</p:spPr>
      </p:sp>
      <p:sp>
        <p:nvSpPr>
          <p:cNvPr id="20" name="Number 4"/>
          <p:cNvSpPr txBox="1"/>
          <p:nvPr/>
        </p:nvSpPr>
        <p:spPr>
          <a:xfrm>
            <a:off x="4800600" y="3063240"/>
            <a:ext cx="365760" cy="36576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Command title 4"/>
          <p:cNvSpPr txBox="1"/>
          <p:nvPr/>
        </p:nvSpPr>
        <p:spPr>
          <a:xfrm>
            <a:off x="5303520" y="306324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Make executable and run</a:t>
            </a:r>
            <a:endParaRPr lang="en-US" sz="1500" dirty="0"/>
          </a:p>
        </p:txBody>
      </p:sp>
      <p:sp>
        <p:nvSpPr>
          <p:cNvPr id="22" name="Command panel 4"/>
          <p:cNvSpPr/>
          <p:nvPr/>
        </p:nvSpPr>
        <p:spPr>
          <a:xfrm>
            <a:off x="4846320" y="3611880"/>
            <a:ext cx="36576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</p:spPr>
      </p:sp>
      <p:sp>
        <p:nvSpPr>
          <p:cNvPr id="23" name="Command text 4"/>
          <p:cNvSpPr txBox="1"/>
          <p:nvPr/>
        </p:nvSpPr>
        <p:spPr>
          <a:xfrm>
            <a:off x="4983480" y="361188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A93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chmod +x library.sh</a:t>
            </a:r>
            <a:endParaRPr lang="en-US" sz="1300" dirty="0"/>
          </a:p>
          <a:p>
            <a:r>
              <a:rPr>
                <a:solidFill>
                  <a:srgbClr val="E6A931"/>
                </a:solidFill>
              </a:rPr>
              <a:t>$ ./library.sh</a:t>
            </a:r>
            <a:endParaRPr>
              <a:solidFill>
                <a:srgbClr val="E6A93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11. Source Code</a:t>
            </a:r>
            <a:endParaRPr lang="en-US" sz="3400" dirty="0"/>
          </a:p>
        </p:txBody>
      </p:sp>
      <p:sp>
        <p:nvSpPr>
          <p:cNvPr id="4" name="Code chip 1"/>
          <p:cNvSpPr/>
          <p:nvPr/>
        </p:nvSpPr>
        <p:spPr>
          <a:xfrm>
            <a:off x="457200" y="1188720"/>
            <a:ext cx="502920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</p:spPr>
      </p:sp>
      <p:sp>
        <p:nvSpPr>
          <p:cNvPr id="5" name="Code text 1"/>
          <p:cNvSpPr txBox="1"/>
          <p:nvPr/>
        </p:nvSpPr>
        <p:spPr>
          <a:xfrm>
            <a:off x="594360" y="1188720"/>
            <a:ext cx="4800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read -r -p "Choose an option (1-7): " choice</a:t>
            </a:r>
            <a:endParaRPr lang="en-US" sz="1200" dirty="0"/>
          </a:p>
        </p:txBody>
      </p:sp>
      <p:sp>
        <p:nvSpPr>
          <p:cNvPr id="6" name="Code note 1"/>
          <p:cNvSpPr txBox="1"/>
          <p:nvPr/>
        </p:nvSpPr>
        <p:spPr>
          <a:xfrm>
            <a:off x="5715000" y="1188720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Reads the menu choice from the keyboard</a:t>
            </a:r>
            <a:endParaRPr lang="en-US" sz="1400" dirty="0"/>
          </a:p>
        </p:txBody>
      </p:sp>
      <p:sp>
        <p:nvSpPr>
          <p:cNvPr id="7" name="Code chip 2"/>
          <p:cNvSpPr/>
          <p:nvPr/>
        </p:nvSpPr>
        <p:spPr>
          <a:xfrm>
            <a:off x="457200" y="1828800"/>
            <a:ext cx="502920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</p:spPr>
      </p:sp>
      <p:sp>
        <p:nvSpPr>
          <p:cNvPr id="8" name="Code text 2"/>
          <p:cNvSpPr txBox="1"/>
          <p:nvPr/>
        </p:nvSpPr>
        <p:spPr>
          <a:xfrm>
            <a:off x="594360" y="1828800"/>
            <a:ext cx="4800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while IFS='|' read -r id title author status borrower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9" name="Code note 2"/>
          <p:cNvSpPr txBox="1"/>
          <p:nvPr/>
        </p:nvSpPr>
        <p:spPr>
          <a:xfrm>
            <a:off x="5715000" y="1828800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Splits a stored line into its five book fields</a:t>
            </a:r>
            <a:endParaRPr lang="en-US" sz="1400" dirty="0"/>
          </a:p>
        </p:txBody>
      </p:sp>
      <p:sp>
        <p:nvSpPr>
          <p:cNvPr id="10" name="Code chip 3"/>
          <p:cNvSpPr/>
          <p:nvPr/>
        </p:nvSpPr>
        <p:spPr>
          <a:xfrm>
            <a:off x="457200" y="2468880"/>
            <a:ext cx="502920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</p:spPr>
      </p:sp>
      <p:sp>
        <p:nvSpPr>
          <p:cNvPr id="11" name="Code text 3"/>
          <p:cNvSpPr txBox="1"/>
          <p:nvPr/>
        </p:nvSpPr>
        <p:spPr>
          <a:xfrm>
            <a:off x="594360" y="2468880"/>
            <a:ext cx="4800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printf '%s|%s|%s|Available|-\n' "$id" "$title" "$author"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2" name="Code note 3"/>
          <p:cNvSpPr txBox="1"/>
          <p:nvPr/>
        </p:nvSpPr>
        <p:spPr>
          <a:xfrm>
            <a:off x="5715000" y="2468880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Adds a new book record to books.txt</a:t>
            </a:r>
            <a:endParaRPr lang="en-US" sz="1400" dirty="0"/>
          </a:p>
        </p:txBody>
      </p:sp>
      <p:sp>
        <p:nvSpPr>
          <p:cNvPr id="13" name="Code chip 4"/>
          <p:cNvSpPr/>
          <p:nvPr/>
        </p:nvSpPr>
        <p:spPr>
          <a:xfrm>
            <a:off x="457200" y="3108960"/>
            <a:ext cx="502920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</p:spPr>
      </p:sp>
      <p:sp>
        <p:nvSpPr>
          <p:cNvPr id="14" name="Code text 4"/>
          <p:cNvSpPr txBox="1"/>
          <p:nvPr/>
        </p:nvSpPr>
        <p:spPr>
          <a:xfrm>
            <a:off x="594360" y="3108960"/>
            <a:ext cx="4800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mv "$temp_file" "$DB_FILE"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5" name="Code note 4"/>
          <p:cNvSpPr txBox="1"/>
          <p:nvPr/>
        </p:nvSpPr>
        <p:spPr>
          <a:xfrm>
            <a:off x="5715000" y="3108960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Saves updated records after issue / return</a:t>
            </a:r>
            <a:endParaRPr lang="en-US" sz="1400" dirty="0"/>
          </a:p>
        </p:txBody>
      </p:sp>
      <p:sp>
        <p:nvSpPr>
          <p:cNvPr id="16" name="Code chip 5"/>
          <p:cNvSpPr/>
          <p:nvPr/>
        </p:nvSpPr>
        <p:spPr>
          <a:xfrm>
            <a:off x="457200" y="3749040"/>
            <a:ext cx="502920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</p:spPr>
      </p:sp>
      <p:sp>
        <p:nvSpPr>
          <p:cNvPr id="17" name="Code text 5"/>
          <p:cNvSpPr txBox="1"/>
          <p:nvPr/>
        </p:nvSpPr>
        <p:spPr>
          <a:xfrm>
            <a:off x="594360" y="3749040"/>
            <a:ext cx="4800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case "$choice" in 1) add_book ;; ...</a:t>
            </a:r>
            <a:endParaRPr lang="en-US" sz="1200" dirty="0"/>
          </a:p>
        </p:txBody>
      </p:sp>
      <p:sp>
        <p:nvSpPr>
          <p:cNvPr id="18" name="Code note 5"/>
          <p:cNvSpPr txBox="1"/>
          <p:nvPr/>
        </p:nvSpPr>
        <p:spPr>
          <a:xfrm>
            <a:off x="5715000" y="3749040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Calls the correct function for the chosen option</a:t>
            </a:r>
            <a:endParaRPr lang="en-US" sz="1400" dirty="0"/>
          </a:p>
        </p:txBody>
      </p:sp>
      <p:sp>
        <p:nvSpPr>
          <p:cNvPr id="19" name="Code footnote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6"/>
                </a:solidFill>
              </a:rPr>
              <a:t>The complete working Bash script is provided in the report.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12. Sample Execution</a:t>
            </a:r>
            <a:endParaRPr lang="en-US" sz="3400" dirty="0"/>
          </a:p>
        </p:txBody>
      </p:sp>
      <p:sp>
        <p:nvSpPr>
          <p:cNvPr id="4" name="Terminal window"/>
          <p:cNvSpPr/>
          <p:nvPr/>
        </p:nvSpPr>
        <p:spPr>
          <a:xfrm>
            <a:off x="457200" y="1188720"/>
            <a:ext cx="5212080" cy="3337560"/>
          </a:xfrm>
          <a:prstGeom prst="roundRect">
            <a:avLst>
              <a:gd name="adj" fmla="val 2740"/>
            </a:avLst>
          </a:prstGeom>
          <a:solidFill>
            <a:schemeClr val="tx2"/>
          </a:solidFill>
        </p:spPr>
      </p:sp>
      <p:sp>
        <p:nvSpPr>
          <p:cNvPr id="5" name="Window dot 1"/>
          <p:cNvSpPr/>
          <p:nvPr/>
        </p:nvSpPr>
        <p:spPr>
          <a:xfrm>
            <a:off x="640080" y="1353312"/>
            <a:ext cx="128016" cy="128016"/>
          </a:xfrm>
          <a:prstGeom prst="ellipse">
            <a:avLst/>
          </a:prstGeom>
          <a:solidFill>
            <a:schemeClr val="accent5"/>
          </a:solidFill>
        </p:spPr>
      </p:sp>
      <p:sp>
        <p:nvSpPr>
          <p:cNvPr id="6" name="Window dot 2"/>
          <p:cNvSpPr/>
          <p:nvPr/>
        </p:nvSpPr>
        <p:spPr>
          <a:xfrm>
            <a:off x="868680" y="1353312"/>
            <a:ext cx="128016" cy="128016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7" name="Window dot 3"/>
          <p:cNvSpPr/>
          <p:nvPr/>
        </p:nvSpPr>
        <p:spPr>
          <a:xfrm>
            <a:off x="1097280" y="1353312"/>
            <a:ext cx="128016" cy="128016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8" name="Terminal output"/>
          <p:cNvSpPr txBox="1"/>
          <p:nvPr/>
        </p:nvSpPr>
        <p:spPr>
          <a:xfrm>
            <a:off x="640080" y="1645920"/>
            <a:ext cx="489204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./library.sh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=======================================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LIBRARY BOOK MANAGEMENT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=======================================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1. Add  2. View  3. Search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4. Issue  5. Return  6. Delete  7. Exit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Choose an option (1-7): 1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Enter Book ID: B104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Enter Book Title: Clean Code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Enter Author Name: Robert C. Martin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Book added successfully. Status: Available.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Data saved in books.txt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Choose an option (1-7): 7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Thank you for using Library Book Management!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endParaRPr lang="en-US" sz="1200" dirty="0"/>
          </a:p>
        </p:txBody>
      </p:sp>
      <p:sp>
        <p:nvSpPr>
          <p:cNvPr id="9" name="Result tile 1"/>
          <p:cNvSpPr/>
          <p:nvPr/>
        </p:nvSpPr>
        <p:spPr>
          <a:xfrm>
            <a:off x="5943600" y="1188720"/>
            <a:ext cx="13258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</p:spPr>
      </p:sp>
      <p:sp>
        <p:nvSpPr>
          <p:cNvPr id="10" name="Tile value 1"/>
          <p:cNvSpPr txBox="1"/>
          <p:nvPr/>
        </p:nvSpPr>
        <p:spPr>
          <a:xfrm>
            <a:off x="5943600" y="126187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000" dirty="0"/>
          </a:p>
        </p:txBody>
      </p:sp>
      <p:sp>
        <p:nvSpPr>
          <p:cNvPr id="11" name="Tile label 1"/>
          <p:cNvSpPr txBox="1"/>
          <p:nvPr/>
        </p:nvSpPr>
        <p:spPr>
          <a:xfrm>
            <a:off x="5943600" y="169164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Actions</a:t>
            </a:r>
            <a:endParaRPr lang="en-US" sz="1200" dirty="0"/>
          </a:p>
        </p:txBody>
      </p:sp>
      <p:sp>
        <p:nvSpPr>
          <p:cNvPr id="12" name="Result tile 2"/>
          <p:cNvSpPr/>
          <p:nvPr/>
        </p:nvSpPr>
        <p:spPr>
          <a:xfrm>
            <a:off x="7360920" y="1188720"/>
            <a:ext cx="13258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</p:spPr>
      </p:sp>
      <p:sp>
        <p:nvSpPr>
          <p:cNvPr id="13" name="Tile value 2"/>
          <p:cNvSpPr txBox="1"/>
          <p:nvPr/>
        </p:nvSpPr>
        <p:spPr>
          <a:xfrm>
            <a:off x="7360920" y="126187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TXT</a:t>
            </a:r>
            <a:endParaRPr lang="en-US" sz="2000" dirty="0"/>
          </a:p>
        </p:txBody>
      </p:sp>
      <p:sp>
        <p:nvSpPr>
          <p:cNvPr id="14" name="Tile label 2"/>
          <p:cNvSpPr txBox="1"/>
          <p:nvPr/>
        </p:nvSpPr>
        <p:spPr>
          <a:xfrm>
            <a:off x="7360920" y="169164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Storage</a:t>
            </a:r>
            <a:endParaRPr lang="en-US" sz="1200" dirty="0"/>
          </a:p>
        </p:txBody>
      </p:sp>
      <p:sp>
        <p:nvSpPr>
          <p:cNvPr id="15" name="Result tile 3"/>
          <p:cNvSpPr/>
          <p:nvPr/>
        </p:nvSpPr>
        <p:spPr>
          <a:xfrm>
            <a:off x="5943600" y="2103120"/>
            <a:ext cx="13258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</p:spPr>
      </p:sp>
      <p:sp>
        <p:nvSpPr>
          <p:cNvPr id="16" name="Tile value 3"/>
          <p:cNvSpPr txBox="1"/>
          <p:nvPr/>
        </p:nvSpPr>
        <p:spPr>
          <a:xfrm>
            <a:off x="5943600" y="217627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Available</a:t>
            </a:r>
            <a:endParaRPr lang="en-US" sz="2000" dirty="0"/>
          </a:p>
        </p:txBody>
      </p:sp>
      <p:sp>
        <p:nvSpPr>
          <p:cNvPr id="17" name="Tile label 3"/>
          <p:cNvSpPr txBox="1"/>
          <p:nvPr/>
        </p:nvSpPr>
        <p:spPr>
          <a:xfrm>
            <a:off x="5943600" y="260604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Status</a:t>
            </a:r>
            <a:endParaRPr lang="en-US" sz="1200" dirty="0"/>
          </a:p>
        </p:txBody>
      </p:sp>
      <p:sp>
        <p:nvSpPr>
          <p:cNvPr id="18" name="Result tile 4"/>
          <p:cNvSpPr/>
          <p:nvPr/>
        </p:nvSpPr>
        <p:spPr>
          <a:xfrm>
            <a:off x="7360920" y="2103120"/>
            <a:ext cx="13258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</p:spPr>
      </p:sp>
      <p:sp>
        <p:nvSpPr>
          <p:cNvPr id="19" name="Tile value 4"/>
          <p:cNvSpPr txBox="1"/>
          <p:nvPr/>
        </p:nvSpPr>
        <p:spPr>
          <a:xfrm>
            <a:off x="7360920" y="217627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Issued</a:t>
            </a:r>
            <a:endParaRPr lang="en-US" sz="2000" dirty="0"/>
          </a:p>
        </p:txBody>
      </p:sp>
      <p:sp>
        <p:nvSpPr>
          <p:cNvPr id="20" name="Tile label 4"/>
          <p:cNvSpPr txBox="1"/>
          <p:nvPr/>
        </p:nvSpPr>
        <p:spPr>
          <a:xfrm>
            <a:off x="7360920" y="260604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On loan</a:t>
            </a:r>
            <a:endParaRPr lang="en-US" sz="1200" dirty="0"/>
          </a:p>
        </p:txBody>
      </p:sp>
      <p:sp>
        <p:nvSpPr>
          <p:cNvPr id="21" name="Invalid input card"/>
          <p:cNvSpPr/>
          <p:nvPr/>
        </p:nvSpPr>
        <p:spPr>
          <a:xfrm>
            <a:off x="5943600" y="3154680"/>
            <a:ext cx="27432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</p:spPr>
      </p:sp>
      <p:sp>
        <p:nvSpPr>
          <p:cNvPr id="22" name="Icon circle FaTimesCircle"/>
          <p:cNvSpPr/>
          <p:nvPr/>
        </p:nvSpPr>
        <p:spPr>
          <a:xfrm>
            <a:off x="6126480" y="3291840"/>
            <a:ext cx="457200" cy="457200"/>
          </a:xfrm>
          <a:prstGeom prst="ellipse">
            <a:avLst/>
          </a:prstGeom>
          <a:solidFill>
            <a:schemeClr val="accent5"/>
          </a:solidFill>
        </p:spPr>
      </p:sp>
      <p:pic>
        <p:nvPicPr>
          <p:cNvPr id="23" name="Icon FaTimesCircle" descr="TimesCirc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08" y="3401568"/>
            <a:ext cx="237744" cy="237744"/>
          </a:xfrm>
          <a:prstGeom prst="rect">
            <a:avLst/>
          </a:prstGeom>
        </p:spPr>
      </p:pic>
      <p:sp>
        <p:nvSpPr>
          <p:cNvPr id="24" name="Invalid title"/>
          <p:cNvSpPr txBox="1"/>
          <p:nvPr/>
        </p:nvSpPr>
        <p:spPr>
          <a:xfrm>
            <a:off x="6675120" y="32918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/>
                </a:solidFill>
              </a:rPr>
              <a:t>Input validation</a:t>
            </a:r>
            <a:endParaRPr lang="en-US" sz="1500" dirty="0"/>
          </a:p>
        </p:txBody>
      </p:sp>
      <p:sp>
        <p:nvSpPr>
          <p:cNvPr id="25" name="Invalid text"/>
          <p:cNvSpPr txBox="1"/>
          <p:nvPr/>
        </p:nvSpPr>
        <p:spPr>
          <a:xfrm>
            <a:off x="6126480" y="388620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Blocks duplicate IDs and invalid status changes.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13. Testing</a:t>
            </a:r>
            <a:endParaRPr lang="en-US" sz="3400" dirty="0"/>
          </a:p>
        </p:txBody>
      </p:sp>
      <p:graphicFrame>
        <p:nvGraphicFramePr>
          <p:cNvPr id="17" name="Test table"/>
          <p:cNvGraphicFramePr>
            <a:graphicFrameLocks noGrp="1"/>
          </p:cNvGraphicFramePr>
          <p:nvPr/>
        </p:nvGraphicFramePr>
        <p:xfrm>
          <a:off x="457200" y="1280160"/>
          <a:ext cx="8229600" cy="2944368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1188720"/>
                <a:gridCol w="1188720"/>
                <a:gridCol w="1097280"/>
                <a:gridCol w="1280160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Input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Expected behavior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B104, valid text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Record added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Available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8056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 duplicate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B101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Duplicate rejected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Unchanged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8056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Search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Atomic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Matching title shown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Unchanged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8056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Issue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B101, Asha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Issue confirmed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Issued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8056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Return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B101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Return confirmed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Available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8056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Issue unknown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B999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Book not found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Unchanged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8056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sting note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6"/>
                </a:solidFill>
              </a:rPr>
              <a:t>Tests cover record creation, duplicate prevention, search, issue/return status and unknown IDs.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14. Team Member Responsibilities</a:t>
            </a:r>
            <a:endParaRPr lang="en-US" sz="3400" dirty="0"/>
          </a:p>
        </p:txBody>
      </p:sp>
      <p:sp>
        <p:nvSpPr>
          <p:cNvPr id="4" name="Team card 1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</p:spPr>
      </p:sp>
      <p:sp>
        <p:nvSpPr>
          <p:cNvPr id="5" name="Icon circle FaUserGraduate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6" name="Icon FaUserGraduate" descr="UserGraduat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662379"/>
            <a:ext cx="332842" cy="332842"/>
          </a:xfrm>
          <a:prstGeom prst="rect">
            <a:avLst/>
          </a:prstGeom>
        </p:spPr>
      </p:pic>
      <p:sp>
        <p:nvSpPr>
          <p:cNvPr id="7" name="Team name 1"/>
          <p:cNvSpPr txBox="1"/>
          <p:nvPr/>
        </p:nvSpPr>
        <p:spPr>
          <a:xfrm>
            <a:off x="1508760" y="15087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Student 1</a:t>
            </a:r>
            <a:endParaRPr lang="en-US" sz="2200" dirty="0"/>
          </a:p>
        </p:txBody>
      </p:sp>
      <p:sp>
        <p:nvSpPr>
          <p:cNvPr id="8" name="Resp label 1"/>
          <p:cNvSpPr txBox="1"/>
          <p:nvPr/>
        </p:nvSpPr>
        <p:spPr>
          <a:xfrm>
            <a:off x="777240" y="23774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Responsibilities</a:t>
            </a:r>
            <a:endParaRPr lang="en-US" sz="1400" dirty="0"/>
          </a:p>
        </p:txBody>
      </p:sp>
      <p:sp>
        <p:nvSpPr>
          <p:cNvPr id="9" name="Resp text 1"/>
          <p:cNvSpPr txBox="1"/>
          <p:nvPr/>
        </p:nvSpPr>
        <p:spPr>
          <a:xfrm>
            <a:off x="777240" y="2670048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Menu design, Bash functions, record file and add/search operations</a:t>
            </a:r>
            <a:endParaRPr lang="en-US" sz="1500" dirty="0"/>
          </a:p>
        </p:txBody>
      </p:sp>
      <p:sp>
        <p:nvSpPr>
          <p:cNvPr id="10" name="Deliv label 1"/>
          <p:cNvSpPr txBox="1"/>
          <p:nvPr/>
        </p:nvSpPr>
        <p:spPr>
          <a:xfrm>
            <a:off x="777240" y="34747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Deliverables</a:t>
            </a:r>
            <a:endParaRPr lang="en-US" sz="1400" dirty="0"/>
          </a:p>
        </p:txBody>
      </p:sp>
      <p:sp>
        <p:nvSpPr>
          <p:cNvPr id="11" name="Deliv text 1"/>
          <p:cNvSpPr txBox="1"/>
          <p:nvPr/>
        </p:nvSpPr>
        <p:spPr>
          <a:xfrm>
            <a:off x="777240" y="376732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Source code and algorithm</a:t>
            </a:r>
            <a:endParaRPr lang="en-US" sz="1500" dirty="0"/>
          </a:p>
        </p:txBody>
      </p:sp>
      <p:sp>
        <p:nvSpPr>
          <p:cNvPr id="12" name="Team card 2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</p:spPr>
      </p:sp>
      <p:sp>
        <p:nvSpPr>
          <p:cNvPr id="13" name="Icon circle FaUserGraduate"/>
          <p:cNvSpPr/>
          <p:nvPr/>
        </p:nvSpPr>
        <p:spPr>
          <a:xfrm>
            <a:off x="4937760" y="150876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con FaUserGraduate" descr="UserGraduat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1379" y="1662379"/>
            <a:ext cx="332842" cy="332842"/>
          </a:xfrm>
          <a:prstGeom prst="rect">
            <a:avLst/>
          </a:prstGeom>
        </p:spPr>
      </p:pic>
      <p:sp>
        <p:nvSpPr>
          <p:cNvPr id="15" name="Team name 2"/>
          <p:cNvSpPr txBox="1"/>
          <p:nvPr/>
        </p:nvSpPr>
        <p:spPr>
          <a:xfrm>
            <a:off x="5715000" y="15087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Students 2-3</a:t>
            </a:r>
            <a:endParaRPr lang="en-US" sz="2200" dirty="0"/>
          </a:p>
        </p:txBody>
      </p:sp>
      <p:sp>
        <p:nvSpPr>
          <p:cNvPr id="16" name="Resp label 2"/>
          <p:cNvSpPr txBox="1"/>
          <p:nvPr/>
        </p:nvSpPr>
        <p:spPr>
          <a:xfrm>
            <a:off x="4983480" y="23774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Responsibilities</a:t>
            </a:r>
            <a:endParaRPr lang="en-US" sz="1400" dirty="0"/>
          </a:p>
        </p:txBody>
      </p:sp>
      <p:sp>
        <p:nvSpPr>
          <p:cNvPr id="17" name="Resp text 2"/>
          <p:cNvSpPr txBox="1"/>
          <p:nvPr/>
        </p:nvSpPr>
        <p:spPr>
          <a:xfrm>
            <a:off x="4983480" y="2670048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Test cases, issue/return/delete functions, documentation and presentation</a:t>
            </a:r>
            <a:endParaRPr lang="en-US" sz="1500" dirty="0"/>
          </a:p>
        </p:txBody>
      </p:sp>
      <p:sp>
        <p:nvSpPr>
          <p:cNvPr id="18" name="Deliv label 2"/>
          <p:cNvSpPr txBox="1"/>
          <p:nvPr/>
        </p:nvSpPr>
        <p:spPr>
          <a:xfrm>
            <a:off x="4983480" y="34747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Deliverables</a:t>
            </a:r>
            <a:endParaRPr lang="en-US" sz="1400" dirty="0"/>
          </a:p>
        </p:txBody>
      </p:sp>
      <p:sp>
        <p:nvSpPr>
          <p:cNvPr id="19" name="Deliv text 2"/>
          <p:cNvSpPr txBox="1"/>
          <p:nvPr/>
        </p:nvSpPr>
        <p:spPr>
          <a:xfrm>
            <a:off x="4983480" y="376732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Testing table and project report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15. Advantages and Limitations</a:t>
            </a:r>
            <a:endParaRPr lang="en-US" sz="3400" dirty="0"/>
          </a:p>
        </p:txBody>
      </p:sp>
      <p:sp>
        <p:nvSpPr>
          <p:cNvPr id="4" name="Advantages card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</p:spPr>
      </p:sp>
      <p:sp>
        <p:nvSpPr>
          <p:cNvPr id="5" name="Icon circle FaCheckCircle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6" name="Icon FaCheckCircle" descr="CheckCirc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594714"/>
            <a:ext cx="285293" cy="285293"/>
          </a:xfrm>
          <a:prstGeom prst="rect">
            <a:avLst/>
          </a:prstGeom>
        </p:spPr>
      </p:pic>
      <p:sp>
        <p:nvSpPr>
          <p:cNvPr id="7" name="Advantages title"/>
          <p:cNvSpPr txBox="1"/>
          <p:nvPr/>
        </p:nvSpPr>
        <p:spPr>
          <a:xfrm>
            <a:off x="1417320" y="14630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Advantages</a:t>
            </a:r>
            <a:endParaRPr lang="en-US" sz="2000" dirty="0"/>
          </a:p>
        </p:txBody>
      </p:sp>
      <p:sp>
        <p:nvSpPr>
          <p:cNvPr id="8" name="Advantages list"/>
          <p:cNvSpPr txBox="1"/>
          <p:nvPr/>
        </p:nvSpPr>
        <p:spPr>
          <a:xfrm>
            <a:off x="777240" y="2194560"/>
            <a:ext cx="356616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Simple menu for beginner users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in the Linux terminal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Searches records and tracks availability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Stores data between executions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Uses no database server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9" name="Limitations card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</p:spPr>
      </p:sp>
      <p:sp>
        <p:nvSpPr>
          <p:cNvPr id="10" name="Icon circle FaExclamationTriangle"/>
          <p:cNvSpPr/>
          <p:nvPr/>
        </p:nvSpPr>
        <p:spPr>
          <a:xfrm>
            <a:off x="4937760" y="1463040"/>
            <a:ext cx="548640" cy="54864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con FaExclamationTriangle" descr="ExclamationTriangle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434" y="1594714"/>
            <a:ext cx="285293" cy="285293"/>
          </a:xfrm>
          <a:prstGeom prst="rect">
            <a:avLst/>
          </a:prstGeom>
        </p:spPr>
      </p:pic>
      <p:sp>
        <p:nvSpPr>
          <p:cNvPr id="12" name="Limitations title"/>
          <p:cNvSpPr txBox="1"/>
          <p:nvPr/>
        </p:nvSpPr>
        <p:spPr>
          <a:xfrm>
            <a:off x="5623560" y="14630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2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13" name="Limitations list"/>
          <p:cNvSpPr txBox="1"/>
          <p:nvPr/>
        </p:nvSpPr>
        <p:spPr>
          <a:xfrm>
            <a:off x="4983480" y="2194560"/>
            <a:ext cx="356616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Text-file storage only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copy of the script edits the same file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user login or access control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fine or due-date calculation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16. Future Enhancements</a:t>
            </a:r>
            <a:endParaRPr lang="en-US" sz="3400" dirty="0"/>
          </a:p>
        </p:txBody>
      </p:sp>
      <p:sp>
        <p:nvSpPr>
          <p:cNvPr id="4" name="Enhancement card 1"/>
          <p:cNvSpPr/>
          <p:nvPr/>
        </p:nvSpPr>
        <p:spPr>
          <a:xfrm>
            <a:off x="457200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5" name="Icon circle FaSave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6" name="Icon FaSave" descr="Sav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538021"/>
            <a:ext cx="261518" cy="261518"/>
          </a:xfrm>
          <a:prstGeom prst="rect">
            <a:avLst/>
          </a:prstGeom>
        </p:spPr>
      </p:pic>
      <p:sp>
        <p:nvSpPr>
          <p:cNvPr id="7" name="Enhancement text 1"/>
          <p:cNvSpPr txBox="1"/>
          <p:nvPr/>
        </p:nvSpPr>
        <p:spPr>
          <a:xfrm>
            <a:off x="594360" y="2029968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Store member and contact details</a:t>
            </a:r>
            <a:endParaRPr lang="en-US" sz="1400" dirty="0"/>
          </a:p>
        </p:txBody>
      </p:sp>
      <p:sp>
        <p:nvSpPr>
          <p:cNvPr id="8" name="Enhancement card 2"/>
          <p:cNvSpPr/>
          <p:nvPr/>
        </p:nvSpPr>
        <p:spPr>
          <a:xfrm>
            <a:off x="2560320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9" name="Icon circle FaUsers"/>
          <p:cNvSpPr/>
          <p:nvPr/>
        </p:nvSpPr>
        <p:spPr>
          <a:xfrm>
            <a:off x="2697480" y="141732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0" name="Icon FaUsers" descr="Users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181" y="1538021"/>
            <a:ext cx="261518" cy="261518"/>
          </a:xfrm>
          <a:prstGeom prst="rect">
            <a:avLst/>
          </a:prstGeom>
        </p:spPr>
      </p:pic>
      <p:sp>
        <p:nvSpPr>
          <p:cNvPr id="11" name="Enhancement text 2"/>
          <p:cNvSpPr txBox="1"/>
          <p:nvPr/>
        </p:nvSpPr>
        <p:spPr>
          <a:xfrm>
            <a:off x="2697480" y="2029968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Add book category and ISBN</a:t>
            </a:r>
            <a:endParaRPr lang="en-US" sz="1400" dirty="0"/>
          </a:p>
        </p:txBody>
      </p:sp>
      <p:sp>
        <p:nvSpPr>
          <p:cNvPr id="12" name="Enhancement card 3"/>
          <p:cNvSpPr/>
          <p:nvPr/>
        </p:nvSpPr>
        <p:spPr>
          <a:xfrm>
            <a:off x="4663440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13" name="Icon circle FaIdCard"/>
          <p:cNvSpPr/>
          <p:nvPr/>
        </p:nvSpPr>
        <p:spPr>
          <a:xfrm>
            <a:off x="4800600" y="141732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con FaIdCard" descr="IdCard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301" y="1538021"/>
            <a:ext cx="261518" cy="261518"/>
          </a:xfrm>
          <a:prstGeom prst="rect">
            <a:avLst/>
          </a:prstGeom>
        </p:spPr>
      </p:pic>
      <p:sp>
        <p:nvSpPr>
          <p:cNvPr id="15" name="Enhancement text 3"/>
          <p:cNvSpPr txBox="1"/>
          <p:nvPr/>
        </p:nvSpPr>
        <p:spPr>
          <a:xfrm>
            <a:off x="4800600" y="2029968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Record issue date and due date</a:t>
            </a:r>
            <a:endParaRPr lang="en-US" sz="1400" dirty="0"/>
          </a:p>
        </p:txBody>
      </p:sp>
      <p:sp>
        <p:nvSpPr>
          <p:cNvPr id="16" name="Enhancement card 4"/>
          <p:cNvSpPr/>
          <p:nvPr/>
        </p:nvSpPr>
        <p:spPr>
          <a:xfrm>
            <a:off x="6766560" y="128016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17" name="Icon circle FaFileAlt"/>
          <p:cNvSpPr/>
          <p:nvPr/>
        </p:nvSpPr>
        <p:spPr>
          <a:xfrm>
            <a:off x="6903720" y="141732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8" name="Icon FaFileAlt" descr="FileA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421" y="1538021"/>
            <a:ext cx="261518" cy="261518"/>
          </a:xfrm>
          <a:prstGeom prst="rect">
            <a:avLst/>
          </a:prstGeom>
        </p:spPr>
      </p:pic>
      <p:sp>
        <p:nvSpPr>
          <p:cNvPr id="19" name="Enhancement text 4"/>
          <p:cNvSpPr txBox="1"/>
          <p:nvPr/>
        </p:nvSpPr>
        <p:spPr>
          <a:xfrm>
            <a:off x="6903720" y="2029968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Calculate late-return fines</a:t>
            </a:r>
            <a:endParaRPr lang="en-US" sz="1400" dirty="0"/>
          </a:p>
        </p:txBody>
      </p:sp>
      <p:sp>
        <p:nvSpPr>
          <p:cNvPr id="20" name="Enhancement card 5"/>
          <p:cNvSpPr/>
          <p:nvPr/>
        </p:nvSpPr>
        <p:spPr>
          <a:xfrm>
            <a:off x="1508760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21" name="Icon circle FaListUl"/>
          <p:cNvSpPr/>
          <p:nvPr/>
        </p:nvSpPr>
        <p:spPr>
          <a:xfrm>
            <a:off x="1645920" y="310896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2" name="Icon FaListUl" descr="ListUl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6621" y="3229661"/>
            <a:ext cx="261518" cy="261518"/>
          </a:xfrm>
          <a:prstGeom prst="rect">
            <a:avLst/>
          </a:prstGeom>
        </p:spPr>
      </p:pic>
      <p:sp>
        <p:nvSpPr>
          <p:cNvPr id="23" name="Enhancement text 5"/>
          <p:cNvSpPr txBox="1"/>
          <p:nvPr/>
        </p:nvSpPr>
        <p:spPr>
          <a:xfrm>
            <a:off x="1645920" y="3721608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Support edit and update operations</a:t>
            </a:r>
            <a:endParaRPr lang="en-US" sz="1400" dirty="0"/>
          </a:p>
        </p:txBody>
      </p:sp>
      <p:sp>
        <p:nvSpPr>
          <p:cNvPr id="24" name="Enhancement card 6"/>
          <p:cNvSpPr/>
          <p:nvPr/>
        </p:nvSpPr>
        <p:spPr>
          <a:xfrm>
            <a:off x="3611880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25" name="Icon circle FaDatabase"/>
          <p:cNvSpPr/>
          <p:nvPr/>
        </p:nvSpPr>
        <p:spPr>
          <a:xfrm>
            <a:off x="3749040" y="310896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6" name="Icon FaDatabase" descr="Databas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9741" y="3229661"/>
            <a:ext cx="261518" cy="261518"/>
          </a:xfrm>
          <a:prstGeom prst="rect">
            <a:avLst/>
          </a:prstGeom>
        </p:spPr>
      </p:pic>
      <p:sp>
        <p:nvSpPr>
          <p:cNvPr id="27" name="Enhancement text 6"/>
          <p:cNvSpPr txBox="1"/>
          <p:nvPr/>
        </p:nvSpPr>
        <p:spPr>
          <a:xfrm>
            <a:off x="3749040" y="3721608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Use CSV or a database for larger libraries</a:t>
            </a:r>
            <a:endParaRPr lang="en-US" sz="1400" dirty="0"/>
          </a:p>
        </p:txBody>
      </p:sp>
      <p:sp>
        <p:nvSpPr>
          <p:cNvPr id="28" name="Enhancement card 7"/>
          <p:cNvSpPr/>
          <p:nvPr/>
        </p:nvSpPr>
        <p:spPr>
          <a:xfrm>
            <a:off x="5715000" y="2971800"/>
            <a:ext cx="1920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29" name="Icon circle FaClock"/>
          <p:cNvSpPr/>
          <p:nvPr/>
        </p:nvSpPr>
        <p:spPr>
          <a:xfrm>
            <a:off x="5852160" y="310896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0" name="Icon FaClock" descr="Clock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2861" y="3229661"/>
            <a:ext cx="261518" cy="261518"/>
          </a:xfrm>
          <a:prstGeom prst="rect">
            <a:avLst/>
          </a:prstGeom>
        </p:spPr>
      </p:pic>
      <p:sp>
        <p:nvSpPr>
          <p:cNvPr id="31" name="Enhancement text 7"/>
          <p:cNvSpPr txBox="1"/>
          <p:nvPr/>
        </p:nvSpPr>
        <p:spPr>
          <a:xfrm>
            <a:off x="5852160" y="3721608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Build a graphical or web interface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17. Learning Outcomes</a:t>
            </a:r>
            <a:endParaRPr lang="en-US" sz="3400" dirty="0"/>
          </a:p>
        </p:txBody>
      </p:sp>
      <p:sp>
        <p:nvSpPr>
          <p:cNvPr id="4" name="Outcome card 1"/>
          <p:cNvSpPr/>
          <p:nvPr/>
        </p:nvSpPr>
        <p:spPr>
          <a:xfrm>
            <a:off x="457200" y="1234440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5" name="Icon circle FaCheckCircle"/>
          <p:cNvSpPr/>
          <p:nvPr/>
        </p:nvSpPr>
        <p:spPr>
          <a:xfrm>
            <a:off x="566928" y="1316736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6" name="Icon FaCheckCircle" descr="CheckCirc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878" y="1417686"/>
            <a:ext cx="218724" cy="218724"/>
          </a:xfrm>
          <a:prstGeom prst="rect">
            <a:avLst/>
          </a:prstGeom>
        </p:spPr>
      </p:pic>
      <p:sp>
        <p:nvSpPr>
          <p:cNvPr id="7" name="Outcome text 1"/>
          <p:cNvSpPr txBox="1"/>
          <p:nvPr/>
        </p:nvSpPr>
        <p:spPr>
          <a:xfrm>
            <a:off x="1143000" y="1234440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Navigate directories using Linux commands</a:t>
            </a:r>
            <a:endParaRPr lang="en-US" sz="1400" dirty="0"/>
          </a:p>
        </p:txBody>
      </p:sp>
      <p:sp>
        <p:nvSpPr>
          <p:cNvPr id="8" name="Outcome card 2"/>
          <p:cNvSpPr/>
          <p:nvPr/>
        </p:nvSpPr>
        <p:spPr>
          <a:xfrm>
            <a:off x="457200" y="1911096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9" name="Icon circle FaCheckCircle"/>
          <p:cNvSpPr/>
          <p:nvPr/>
        </p:nvSpPr>
        <p:spPr>
          <a:xfrm>
            <a:off x="566928" y="1993392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0" name="Icon FaCheckCircle" descr="CheckCirc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878" y="2094342"/>
            <a:ext cx="218724" cy="218724"/>
          </a:xfrm>
          <a:prstGeom prst="rect">
            <a:avLst/>
          </a:prstGeom>
        </p:spPr>
      </p:pic>
      <p:sp>
        <p:nvSpPr>
          <p:cNvPr id="11" name="Outcome text 2"/>
          <p:cNvSpPr txBox="1"/>
          <p:nvPr/>
        </p:nvSpPr>
        <p:spPr>
          <a:xfrm>
            <a:off x="1143000" y="1911096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Create and edit script files in terminal</a:t>
            </a:r>
            <a:endParaRPr lang="en-US" sz="1400" dirty="0"/>
          </a:p>
        </p:txBody>
      </p:sp>
      <p:sp>
        <p:nvSpPr>
          <p:cNvPr id="12" name="Outcome card 3"/>
          <p:cNvSpPr/>
          <p:nvPr/>
        </p:nvSpPr>
        <p:spPr>
          <a:xfrm>
            <a:off x="457200" y="2587752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13" name="Icon circle FaCheckCircle"/>
          <p:cNvSpPr/>
          <p:nvPr/>
        </p:nvSpPr>
        <p:spPr>
          <a:xfrm>
            <a:off x="566928" y="2670048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con FaCheckCircle" descr="CheckCirc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878" y="2770998"/>
            <a:ext cx="218724" cy="218724"/>
          </a:xfrm>
          <a:prstGeom prst="rect">
            <a:avLst/>
          </a:prstGeom>
        </p:spPr>
      </p:pic>
      <p:sp>
        <p:nvSpPr>
          <p:cNvPr id="15" name="Outcome text 3"/>
          <p:cNvSpPr txBox="1"/>
          <p:nvPr/>
        </p:nvSpPr>
        <p:spPr>
          <a:xfrm>
            <a:off x="1143000" y="2587752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Change file permissions with chmod</a:t>
            </a:r>
            <a:endParaRPr lang="en-US" sz="1400" dirty="0"/>
          </a:p>
        </p:txBody>
      </p:sp>
      <p:sp>
        <p:nvSpPr>
          <p:cNvPr id="16" name="Outcome card 4"/>
          <p:cNvSpPr/>
          <p:nvPr/>
        </p:nvSpPr>
        <p:spPr>
          <a:xfrm>
            <a:off x="457200" y="3264408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17" name="Icon circle FaCheckCircle"/>
          <p:cNvSpPr/>
          <p:nvPr/>
        </p:nvSpPr>
        <p:spPr>
          <a:xfrm>
            <a:off x="566928" y="3346704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8" name="Icon FaCheckCircle" descr="CheckCirc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878" y="3447654"/>
            <a:ext cx="218724" cy="218724"/>
          </a:xfrm>
          <a:prstGeom prst="rect">
            <a:avLst/>
          </a:prstGeom>
        </p:spPr>
      </p:pic>
      <p:sp>
        <p:nvSpPr>
          <p:cNvPr id="19" name="Outcome text 4"/>
          <p:cNvSpPr txBox="1"/>
          <p:nvPr/>
        </p:nvSpPr>
        <p:spPr>
          <a:xfrm>
            <a:off x="1143000" y="3264408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Write and execute a Bash application</a:t>
            </a:r>
            <a:endParaRPr lang="en-US" sz="1400" dirty="0"/>
          </a:p>
        </p:txBody>
      </p:sp>
      <p:sp>
        <p:nvSpPr>
          <p:cNvPr id="20" name="Outcome card 5"/>
          <p:cNvSpPr/>
          <p:nvPr/>
        </p:nvSpPr>
        <p:spPr>
          <a:xfrm>
            <a:off x="457200" y="3941064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21" name="Icon circle FaCheckCircle"/>
          <p:cNvSpPr/>
          <p:nvPr/>
        </p:nvSpPr>
        <p:spPr>
          <a:xfrm>
            <a:off x="566928" y="4023360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2" name="Icon FaCheckCircle" descr="CheckCirc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878" y="4124310"/>
            <a:ext cx="218724" cy="218724"/>
          </a:xfrm>
          <a:prstGeom prst="rect">
            <a:avLst/>
          </a:prstGeom>
        </p:spPr>
      </p:pic>
      <p:sp>
        <p:nvSpPr>
          <p:cNvPr id="23" name="Outcome text 5"/>
          <p:cNvSpPr txBox="1"/>
          <p:nvPr/>
        </p:nvSpPr>
        <p:spPr>
          <a:xfrm>
            <a:off x="1143000" y="3941064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Use variables and read for input</a:t>
            </a:r>
            <a:endParaRPr lang="en-US" sz="1400" dirty="0"/>
          </a:p>
        </p:txBody>
      </p:sp>
      <p:sp>
        <p:nvSpPr>
          <p:cNvPr id="24" name="Outcome card 6"/>
          <p:cNvSpPr/>
          <p:nvPr/>
        </p:nvSpPr>
        <p:spPr>
          <a:xfrm>
            <a:off x="4663440" y="1234440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25" name="Icon circle FaCheckCircle"/>
          <p:cNvSpPr/>
          <p:nvPr/>
        </p:nvSpPr>
        <p:spPr>
          <a:xfrm>
            <a:off x="4773168" y="1316736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6" name="Icon FaCheckCircle" descr="CheckCirc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4118" y="1417686"/>
            <a:ext cx="218724" cy="218724"/>
          </a:xfrm>
          <a:prstGeom prst="rect">
            <a:avLst/>
          </a:prstGeom>
        </p:spPr>
      </p:pic>
      <p:sp>
        <p:nvSpPr>
          <p:cNvPr id="27" name="Outcome text 6"/>
          <p:cNvSpPr txBox="1"/>
          <p:nvPr/>
        </p:nvSpPr>
        <p:spPr>
          <a:xfrm>
            <a:off x="5349240" y="1234440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Store records in a text file</a:t>
            </a:r>
            <a:endParaRPr lang="en-US" sz="1400" dirty="0"/>
          </a:p>
        </p:txBody>
      </p:sp>
      <p:sp>
        <p:nvSpPr>
          <p:cNvPr id="28" name="Outcome card 7"/>
          <p:cNvSpPr/>
          <p:nvPr/>
        </p:nvSpPr>
        <p:spPr>
          <a:xfrm>
            <a:off x="4663440" y="1911096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29" name="Icon circle FaCheckCircle"/>
          <p:cNvSpPr/>
          <p:nvPr/>
        </p:nvSpPr>
        <p:spPr>
          <a:xfrm>
            <a:off x="4773168" y="1993392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0" name="Icon FaCheckCircle" descr="CheckCirc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4118" y="2094342"/>
            <a:ext cx="218724" cy="218724"/>
          </a:xfrm>
          <a:prstGeom prst="rect">
            <a:avLst/>
          </a:prstGeom>
        </p:spPr>
      </p:pic>
      <p:sp>
        <p:nvSpPr>
          <p:cNvPr id="31" name="Outcome text 7"/>
          <p:cNvSpPr txBox="1"/>
          <p:nvPr/>
        </p:nvSpPr>
        <p:spPr>
          <a:xfrm>
            <a:off x="5349240" y="1911096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Apply if, case and while statements</a:t>
            </a:r>
            <a:endParaRPr lang="en-US" sz="1400" dirty="0"/>
          </a:p>
        </p:txBody>
      </p:sp>
      <p:sp>
        <p:nvSpPr>
          <p:cNvPr id="32" name="Outcome card 8"/>
          <p:cNvSpPr/>
          <p:nvPr/>
        </p:nvSpPr>
        <p:spPr>
          <a:xfrm>
            <a:off x="4663440" y="2587752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33" name="Icon circle FaCheckCircle"/>
          <p:cNvSpPr/>
          <p:nvPr/>
        </p:nvSpPr>
        <p:spPr>
          <a:xfrm>
            <a:off x="4773168" y="2670048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4" name="Icon FaCheckCircle" descr="CheckCirc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4118" y="2770998"/>
            <a:ext cx="218724" cy="218724"/>
          </a:xfrm>
          <a:prstGeom prst="rect">
            <a:avLst/>
          </a:prstGeom>
        </p:spPr>
      </p:pic>
      <p:sp>
        <p:nvSpPr>
          <p:cNvPr id="35" name="Outcome text 8"/>
          <p:cNvSpPr txBox="1"/>
          <p:nvPr/>
        </p:nvSpPr>
        <p:spPr>
          <a:xfrm>
            <a:off x="5349240" y="2587752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Create and call Bash functions</a:t>
            </a:r>
            <a:endParaRPr lang="en-US" sz="1400" dirty="0"/>
          </a:p>
        </p:txBody>
      </p:sp>
      <p:sp>
        <p:nvSpPr>
          <p:cNvPr id="36" name="Outcome card 9"/>
          <p:cNvSpPr/>
          <p:nvPr/>
        </p:nvSpPr>
        <p:spPr>
          <a:xfrm>
            <a:off x="4663440" y="3264408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37" name="Icon circle FaCheckCircle"/>
          <p:cNvSpPr/>
          <p:nvPr/>
        </p:nvSpPr>
        <p:spPr>
          <a:xfrm>
            <a:off x="4773168" y="3346704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8" name="Icon FaCheckCircle" descr="CheckCirc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4118" y="3447654"/>
            <a:ext cx="218724" cy="218724"/>
          </a:xfrm>
          <a:prstGeom prst="rect">
            <a:avLst/>
          </a:prstGeom>
        </p:spPr>
      </p:pic>
      <p:sp>
        <p:nvSpPr>
          <p:cNvPr id="39" name="Outcome text 9"/>
          <p:cNvSpPr txBox="1"/>
          <p:nvPr/>
        </p:nvSpPr>
        <p:spPr>
          <a:xfrm>
            <a:off x="5349240" y="3264408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Validate input and check record status</a:t>
            </a:r>
            <a:endParaRPr lang="en-US" sz="1400" dirty="0"/>
          </a:p>
        </p:txBody>
      </p:sp>
      <p:sp>
        <p:nvSpPr>
          <p:cNvPr id="40" name="Outcome card 10"/>
          <p:cNvSpPr/>
          <p:nvPr/>
        </p:nvSpPr>
        <p:spPr>
          <a:xfrm>
            <a:off x="4663440" y="3941064"/>
            <a:ext cx="4023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</p:spPr>
      </p:sp>
      <p:sp>
        <p:nvSpPr>
          <p:cNvPr id="41" name="Icon circle FaCheckCircle"/>
          <p:cNvSpPr/>
          <p:nvPr/>
        </p:nvSpPr>
        <p:spPr>
          <a:xfrm>
            <a:off x="4773168" y="4023360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42" name="Icon FaCheckCircle" descr="CheckCircl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4118" y="4124310"/>
            <a:ext cx="218724" cy="218724"/>
          </a:xfrm>
          <a:prstGeom prst="rect">
            <a:avLst/>
          </a:prstGeom>
        </p:spPr>
      </p:pic>
      <p:sp>
        <p:nvSpPr>
          <p:cNvPr id="43" name="Outcome text 10"/>
          <p:cNvSpPr txBox="1"/>
          <p:nvPr/>
        </p:nvSpPr>
        <p:spPr>
          <a:xfrm>
            <a:off x="5349240" y="3941064"/>
            <a:ext cx="3246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Test, debug and explain the project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18. Conclusion</a:t>
            </a:r>
            <a:endParaRPr lang="en-US" sz="3400" dirty="0"/>
          </a:p>
        </p:txBody>
      </p:sp>
      <p:sp>
        <p:nvSpPr>
          <p:cNvPr id="4" name="Conclusion text"/>
          <p:cNvSpPr txBox="1"/>
          <p:nvPr/>
        </p:nvSpPr>
        <p:spPr>
          <a:xfrm>
            <a:off x="457200" y="1280160"/>
            <a:ext cx="42062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</a:rPr>
              <a:t>Library Book Management demonstrates how Bash can automate common book-record tasks from the Linux terminal.</a:t>
            </a:r>
            <a:endParaRPr lang="en-US" sz="1800" dirty="0"/>
          </a:p>
        </p:txBody>
      </p:sp>
      <p:sp>
        <p:nvSpPr>
          <p:cNvPr id="5" name="Conclusion detail"/>
          <p:cNvSpPr txBox="1"/>
          <p:nvPr/>
        </p:nvSpPr>
        <p:spPr>
          <a:xfrm>
            <a:off x="457200" y="2880360"/>
            <a:ext cx="42062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2"/>
                </a:solidFill>
              </a:rPr>
              <a:t>It combines menu-driven logic, file handling, search, validation and status updates in a simple working project.</a:t>
            </a:r>
            <a:endParaRPr lang="en-US" sz="1500" dirty="0"/>
          </a:p>
        </p:txBody>
      </p:sp>
      <p:sp>
        <p:nvSpPr>
          <p:cNvPr id="6" name="Foundation label"/>
          <p:cNvSpPr txBox="1"/>
          <p:nvPr/>
        </p:nvSpPr>
        <p:spPr>
          <a:xfrm>
            <a:off x="5120640" y="12801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 foundation for future improvements:</a:t>
            </a:r>
            <a:endParaRPr lang="en-US" sz="1600" dirty="0"/>
          </a:p>
        </p:txBody>
      </p:sp>
      <p:sp>
        <p:nvSpPr>
          <p:cNvPr id="7" name="Pill 1"/>
          <p:cNvSpPr/>
          <p:nvPr/>
        </p:nvSpPr>
        <p:spPr>
          <a:xfrm>
            <a:off x="5120640" y="1783080"/>
            <a:ext cx="3566160" cy="438912"/>
          </a:xfrm>
          <a:prstGeom prst="roundRect">
            <a:avLst>
              <a:gd name="adj" fmla="val 20833"/>
            </a:avLst>
          </a:prstGeom>
          <a:solidFill>
            <a:schemeClr val="accent3"/>
          </a:solidFill>
        </p:spPr>
      </p:sp>
      <p:sp>
        <p:nvSpPr>
          <p:cNvPr id="8" name="Pill text 1"/>
          <p:cNvSpPr txBox="1"/>
          <p:nvPr/>
        </p:nvSpPr>
        <p:spPr>
          <a:xfrm>
            <a:off x="5349240" y="1783080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2"/>
                </a:solidFill>
              </a:rPr>
              <a:t>Member records</a:t>
            </a:r>
            <a:endParaRPr lang="en-US" sz="1500" dirty="0"/>
          </a:p>
        </p:txBody>
      </p:sp>
      <p:sp>
        <p:nvSpPr>
          <p:cNvPr id="9" name="Pill 2"/>
          <p:cNvSpPr/>
          <p:nvPr/>
        </p:nvSpPr>
        <p:spPr>
          <a:xfrm>
            <a:off x="5120640" y="2331720"/>
            <a:ext cx="3566160" cy="438912"/>
          </a:xfrm>
          <a:prstGeom prst="roundRect">
            <a:avLst>
              <a:gd name="adj" fmla="val 20833"/>
            </a:avLst>
          </a:prstGeom>
          <a:solidFill>
            <a:schemeClr val="accent3"/>
          </a:solidFill>
        </p:spPr>
      </p:sp>
      <p:sp>
        <p:nvSpPr>
          <p:cNvPr id="10" name="Pill text 2"/>
          <p:cNvSpPr txBox="1"/>
          <p:nvPr/>
        </p:nvSpPr>
        <p:spPr>
          <a:xfrm>
            <a:off x="5349240" y="2331720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2"/>
                </a:solidFill>
              </a:rPr>
              <a:t>Due dates and fines</a:t>
            </a:r>
            <a:endParaRPr lang="en-US" sz="1500" dirty="0"/>
          </a:p>
        </p:txBody>
      </p:sp>
      <p:sp>
        <p:nvSpPr>
          <p:cNvPr id="11" name="Pill 3"/>
          <p:cNvSpPr/>
          <p:nvPr/>
        </p:nvSpPr>
        <p:spPr>
          <a:xfrm>
            <a:off x="5120640" y="2880360"/>
            <a:ext cx="3566160" cy="438912"/>
          </a:xfrm>
          <a:prstGeom prst="roundRect">
            <a:avLst>
              <a:gd name="adj" fmla="val 20833"/>
            </a:avLst>
          </a:prstGeom>
          <a:solidFill>
            <a:schemeClr val="accent3"/>
          </a:solidFill>
        </p:spPr>
      </p:sp>
      <p:sp>
        <p:nvSpPr>
          <p:cNvPr id="12" name="Pill text 3"/>
          <p:cNvSpPr txBox="1"/>
          <p:nvPr/>
        </p:nvSpPr>
        <p:spPr>
          <a:xfrm>
            <a:off x="5349240" y="2880360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2"/>
                </a:solidFill>
              </a:rPr>
              <a:t>Reports and search filters</a:t>
            </a:r>
            <a:endParaRPr lang="en-US" sz="1500" dirty="0"/>
          </a:p>
        </p:txBody>
      </p:sp>
      <p:sp>
        <p:nvSpPr>
          <p:cNvPr id="13" name="Pill 4"/>
          <p:cNvSpPr/>
          <p:nvPr/>
        </p:nvSpPr>
        <p:spPr>
          <a:xfrm>
            <a:off x="5120640" y="3429000"/>
            <a:ext cx="3566160" cy="438912"/>
          </a:xfrm>
          <a:prstGeom prst="roundRect">
            <a:avLst>
              <a:gd name="adj" fmla="val 20833"/>
            </a:avLst>
          </a:prstGeom>
          <a:solidFill>
            <a:schemeClr val="accent3"/>
          </a:solidFill>
        </p:spPr>
      </p:sp>
      <p:sp>
        <p:nvSpPr>
          <p:cNvPr id="14" name="Pill text 4"/>
          <p:cNvSpPr txBox="1"/>
          <p:nvPr/>
        </p:nvSpPr>
        <p:spPr>
          <a:xfrm>
            <a:off x="5349240" y="3429000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2"/>
                </a:solidFill>
              </a:rPr>
              <a:t>Database integration</a:t>
            </a:r>
            <a:endParaRPr lang="en-US" sz="1500" dirty="0"/>
          </a:p>
        </p:txBody>
      </p:sp>
      <p:sp>
        <p:nvSpPr>
          <p:cNvPr id="15" name="Pill 5"/>
          <p:cNvSpPr/>
          <p:nvPr/>
        </p:nvSpPr>
        <p:spPr>
          <a:xfrm>
            <a:off x="5120640" y="3977640"/>
            <a:ext cx="3566160" cy="438912"/>
          </a:xfrm>
          <a:prstGeom prst="roundRect">
            <a:avLst>
              <a:gd name="adj" fmla="val 20833"/>
            </a:avLst>
          </a:prstGeom>
          <a:solidFill>
            <a:schemeClr val="accent3"/>
          </a:solidFill>
        </p:spPr>
      </p:sp>
      <p:sp>
        <p:nvSpPr>
          <p:cNvPr id="16" name="Pill text 5"/>
          <p:cNvSpPr txBox="1"/>
          <p:nvPr/>
        </p:nvSpPr>
        <p:spPr>
          <a:xfrm>
            <a:off x="5349240" y="3977640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2"/>
                </a:solidFill>
              </a:rPr>
              <a:t>GUI or web version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8C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19. References</a:t>
            </a:r>
            <a:endParaRPr lang="en-US" sz="3400" dirty="0"/>
          </a:p>
        </p:txBody>
      </p:sp>
      <p:sp>
        <p:nvSpPr>
          <p:cNvPr id="4" name="Reference card 1"/>
          <p:cNvSpPr/>
          <p:nvPr/>
        </p:nvSpPr>
        <p:spPr>
          <a:xfrm>
            <a:off x="457200" y="1280160"/>
            <a:ext cx="82296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</p:spPr>
      </p:sp>
      <p:sp>
        <p:nvSpPr>
          <p:cNvPr id="5" name="Icon circle FaBook"/>
          <p:cNvSpPr/>
          <p:nvPr/>
        </p:nvSpPr>
        <p:spPr>
          <a:xfrm>
            <a:off x="640080" y="1389888"/>
            <a:ext cx="493776" cy="493776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6" name="Icon FaBook" descr="Book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86" y="1508394"/>
            <a:ext cx="256764" cy="256764"/>
          </a:xfrm>
          <a:prstGeom prst="rect">
            <a:avLst/>
          </a:prstGeom>
        </p:spPr>
      </p:pic>
      <p:sp>
        <p:nvSpPr>
          <p:cNvPr id="7" name="Reference text 1"/>
          <p:cNvSpPr txBox="1"/>
          <p:nvPr/>
        </p:nvSpPr>
        <p:spPr>
          <a:xfrm>
            <a:off x="1371600" y="128016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GNU Bash Reference Manual</a:t>
            </a:r>
            <a:endParaRPr lang="en-US" sz="1600" dirty="0"/>
          </a:p>
        </p:txBody>
      </p:sp>
      <p:sp>
        <p:nvSpPr>
          <p:cNvPr id="8" name="Reference card 2"/>
          <p:cNvSpPr/>
          <p:nvPr/>
        </p:nvSpPr>
        <p:spPr>
          <a:xfrm>
            <a:off x="457200" y="2121408"/>
            <a:ext cx="82296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</p:spPr>
      </p:sp>
      <p:sp>
        <p:nvSpPr>
          <p:cNvPr id="9" name="Icon circle FaBook"/>
          <p:cNvSpPr/>
          <p:nvPr/>
        </p:nvSpPr>
        <p:spPr>
          <a:xfrm>
            <a:off x="640080" y="2231136"/>
            <a:ext cx="493776" cy="493776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0" name="Icon FaBook" descr="Book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86" y="2349642"/>
            <a:ext cx="256764" cy="256764"/>
          </a:xfrm>
          <a:prstGeom prst="rect">
            <a:avLst/>
          </a:prstGeom>
        </p:spPr>
      </p:pic>
      <p:sp>
        <p:nvSpPr>
          <p:cNvPr id="11" name="Reference text 2"/>
          <p:cNvSpPr txBox="1"/>
          <p:nvPr/>
        </p:nvSpPr>
        <p:spPr>
          <a:xfrm>
            <a:off x="1371600" y="2121408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Linux man-pages: read, chmod, mkdir, mv, mktemp</a:t>
            </a:r>
            <a:endParaRPr lang="en-US" sz="1600" dirty="0"/>
          </a:p>
        </p:txBody>
      </p:sp>
      <p:sp>
        <p:nvSpPr>
          <p:cNvPr id="12" name="Reference card 3"/>
          <p:cNvSpPr/>
          <p:nvPr/>
        </p:nvSpPr>
        <p:spPr>
          <a:xfrm>
            <a:off x="457200" y="2962656"/>
            <a:ext cx="82296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</p:spPr>
      </p:sp>
      <p:sp>
        <p:nvSpPr>
          <p:cNvPr id="13" name="Icon circle FaBook"/>
          <p:cNvSpPr/>
          <p:nvPr/>
        </p:nvSpPr>
        <p:spPr>
          <a:xfrm>
            <a:off x="640080" y="3072384"/>
            <a:ext cx="493776" cy="493776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con FaBook" descr="Book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86" y="3190890"/>
            <a:ext cx="256764" cy="256764"/>
          </a:xfrm>
          <a:prstGeom prst="rect">
            <a:avLst/>
          </a:prstGeom>
        </p:spPr>
      </p:pic>
      <p:sp>
        <p:nvSpPr>
          <p:cNvPr id="15" name="Reference text 3"/>
          <p:cNvSpPr txBox="1"/>
          <p:nvPr/>
        </p:nvSpPr>
        <p:spPr>
          <a:xfrm>
            <a:off x="1371600" y="2962656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Ubuntu Linux documentation</a:t>
            </a:r>
            <a:endParaRPr lang="en-US" sz="1600" dirty="0"/>
          </a:p>
        </p:txBody>
      </p:sp>
      <p:sp>
        <p:nvSpPr>
          <p:cNvPr id="16" name="Reference card 4"/>
          <p:cNvSpPr/>
          <p:nvPr/>
        </p:nvSpPr>
        <p:spPr>
          <a:xfrm>
            <a:off x="457200" y="3803904"/>
            <a:ext cx="82296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</p:spPr>
      </p:sp>
      <p:sp>
        <p:nvSpPr>
          <p:cNvPr id="17" name="Icon circle FaBook"/>
          <p:cNvSpPr/>
          <p:nvPr/>
        </p:nvSpPr>
        <p:spPr>
          <a:xfrm>
            <a:off x="640080" y="3913632"/>
            <a:ext cx="493776" cy="493776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8" name="Icon FaBook" descr="Book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86" y="4032138"/>
            <a:ext cx="256764" cy="256764"/>
          </a:xfrm>
          <a:prstGeom prst="rect">
            <a:avLst/>
          </a:prstGeom>
        </p:spPr>
      </p:pic>
      <p:sp>
        <p:nvSpPr>
          <p:cNvPr id="19" name="Reference text 4"/>
          <p:cNvSpPr txBox="1"/>
          <p:nvPr/>
        </p:nvSpPr>
        <p:spPr>
          <a:xfrm>
            <a:off x="1371600" y="3803904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Course notes and laboratory material provided by the faculty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7C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22630" y="777240"/>
            <a:ext cx="4663440" cy="821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kern="0" spc="400" dirty="0">
                <a:solidFill>
                  <a:schemeClr val="accent2"/>
                </a:solidFill>
                <a:latin typeface="Arial Black" panose="020B0A04020102020204" charset="0"/>
                <a:cs typeface="Arial Black" panose="020B0A04020102020204" charset="0"/>
              </a:rPr>
              <a:t>LINUX MINI PROJECT</a:t>
            </a:r>
            <a:endParaRPr lang="en-US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0"/>
          <p:cNvSpPr/>
          <p:nvPr>
            <p:ph type="title" idx="100" hasCustomPrompt="1"/>
          </p:nvPr>
        </p:nvSpPr>
        <p:spPr>
          <a:xfrm>
            <a:off x="764540" y="1598295"/>
            <a:ext cx="4663440" cy="1205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Thank You</a:t>
            </a:r>
            <a:endParaRPr lang="en-US" sz="3800" dirty="0"/>
          </a:p>
        </p:txBody>
      </p:sp>
      <p:sp>
        <p:nvSpPr>
          <p:cNvPr id="5" name="Terminal window"/>
          <p:cNvSpPr/>
          <p:nvPr/>
        </p:nvSpPr>
        <p:spPr>
          <a:xfrm>
            <a:off x="5532120" y="1234440"/>
            <a:ext cx="3200400" cy="1554480"/>
          </a:xfrm>
          <a:prstGeom prst="roundRect">
            <a:avLst>
              <a:gd name="adj" fmla="val 5882"/>
            </a:avLst>
          </a:prstGeom>
          <a:solidFill>
            <a:schemeClr val="accent3"/>
          </a:solidFill>
        </p:spPr>
      </p:sp>
      <p:sp>
        <p:nvSpPr>
          <p:cNvPr id="6" name="Window dot 1"/>
          <p:cNvSpPr/>
          <p:nvPr/>
        </p:nvSpPr>
        <p:spPr>
          <a:xfrm>
            <a:off x="5715000" y="1417320"/>
            <a:ext cx="128016" cy="128016"/>
          </a:xfrm>
          <a:prstGeom prst="ellipse">
            <a:avLst/>
          </a:prstGeom>
          <a:solidFill>
            <a:schemeClr val="accent5"/>
          </a:solidFill>
        </p:spPr>
      </p:sp>
      <p:sp>
        <p:nvSpPr>
          <p:cNvPr id="7" name="Window dot 2"/>
          <p:cNvSpPr/>
          <p:nvPr/>
        </p:nvSpPr>
        <p:spPr>
          <a:xfrm>
            <a:off x="5943600" y="1417320"/>
            <a:ext cx="128016" cy="128016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8" name="Window dot 3"/>
          <p:cNvSpPr/>
          <p:nvPr/>
        </p:nvSpPr>
        <p:spPr>
          <a:xfrm>
            <a:off x="6172200" y="1417320"/>
            <a:ext cx="128016" cy="128016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9" name="Terminal text"/>
          <p:cNvSpPr txBox="1"/>
          <p:nvPr/>
        </p:nvSpPr>
        <p:spPr>
          <a:xfrm>
            <a:off x="5715000" y="1783080"/>
            <a:ext cx="288036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echo "Thank you!"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Thank you!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endParaRPr lang="en-US" sz="1300" dirty="0"/>
          </a:p>
        </p:txBody>
      </p:sp>
      <p:sp>
        <p:nvSpPr>
          <p:cNvPr id="11" name="Text 0"/>
          <p:cNvSpPr/>
          <p:nvPr>
            <p:ph type="body" idx="101" hasCustomPrompt="1"/>
          </p:nvPr>
        </p:nvSpPr>
        <p:spPr>
          <a:xfrm>
            <a:off x="764540" y="2560320"/>
            <a:ext cx="3744595" cy="14293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latin typeface="Arial Rounded MT Bold" panose="020F0704030504030204" charset="0"/>
                <a:ea typeface="BIZ UDGothic" panose="020B0400000000000000" charset="-128"/>
                <a:cs typeface="Arial Rounded MT Bold" panose="020F0704030504030204" charset="0"/>
              </a:rPr>
              <a:t>K. Bhuvan Sai Kumar</a:t>
            </a:r>
            <a:endParaRPr lang="en-US" sz="1800" b="1" dirty="0">
              <a:latin typeface="Arial Rounded MT Bold" panose="020F0704030504030204" charset="0"/>
              <a:ea typeface="BIZ UDGothic" panose="020B0400000000000000" charset="-128"/>
              <a:cs typeface="Arial Rounded MT Bold" panose="020F0704030504030204" charset="0"/>
            </a:endParaRPr>
          </a:p>
          <a:p>
            <a:pPr marL="0" indent="0" algn="l">
              <a:buNone/>
            </a:pPr>
            <a:r>
              <a:rPr lang="en-US" sz="1800" b="1" dirty="0">
                <a:latin typeface="Arial Rounded MT Bold" panose="020F0704030504030204" charset="0"/>
                <a:ea typeface="BIZ UDGothic" panose="020B0400000000000000" charset="-128"/>
                <a:cs typeface="Arial Rounded MT Bold" panose="020F0704030504030204" charset="0"/>
              </a:rPr>
              <a:t>J. Prasanth Pavan</a:t>
            </a:r>
            <a:endParaRPr lang="en-US" sz="1800" b="1" dirty="0">
              <a:latin typeface="Arial Rounded MT Bold" panose="020F0704030504030204" charset="0"/>
              <a:ea typeface="BIZ UDGothic" panose="020B0400000000000000" charset="-128"/>
              <a:cs typeface="Arial Rounded MT Bold" panose="020F0704030504030204" charset="0"/>
            </a:endParaRPr>
          </a:p>
          <a:p>
            <a:pPr marL="0" indent="0" algn="l">
              <a:buNone/>
            </a:pPr>
            <a:r>
              <a:rPr lang="en-US" sz="1800" b="1" dirty="0">
                <a:latin typeface="Arial Rounded MT Bold" panose="020F0704030504030204" charset="0"/>
                <a:ea typeface="BIZ UDGothic" panose="020B0400000000000000" charset="-128"/>
                <a:cs typeface="Arial Rounded MT Bold" panose="020F0704030504030204" charset="0"/>
              </a:rPr>
              <a:t>Abhinav Joshi</a:t>
            </a:r>
            <a:endParaRPr lang="en-US" sz="1800" b="1" dirty="0">
              <a:latin typeface="Arial Rounded MT Bold" panose="020F0704030504030204" charset="0"/>
              <a:ea typeface="BIZ UDGothic" panose="020B0400000000000000" charset="-128"/>
              <a:cs typeface="Arial Rounded MT Bold" panose="020F0704030504030204" charset="0"/>
            </a:endParaRPr>
          </a:p>
          <a:p>
            <a:pPr marL="0" indent="0" algn="l">
              <a:buNone/>
            </a:pPr>
            <a:r>
              <a:rPr lang="en-US" sz="1800" b="1" dirty="0">
                <a:latin typeface="Arial Rounded MT Bold" panose="020F0704030504030204" charset="0"/>
                <a:ea typeface="BIZ UDGothic" panose="020B0400000000000000" charset="-128"/>
                <a:cs typeface="Arial Rounded MT Bold" panose="020F0704030504030204" charset="0"/>
              </a:rPr>
              <a:t>Veeran Reddy Hari Krishna</a:t>
            </a:r>
            <a:endParaRPr lang="en-US" sz="1800" b="1" dirty="0">
              <a:latin typeface="Arial Rounded MT Bold" panose="020F0704030504030204" charset="0"/>
              <a:ea typeface="BIZ UDGothic" panose="020B0400000000000000" charset="-128"/>
              <a:cs typeface="Arial Rounded MT Bold" panose="020F07040305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flash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ptdance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2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90000">
                <p:cTn id="7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Terminal Green">
  <a:themeElements>
    <a:clrScheme name="Terminal Green">
      <a:dk1>
        <a:srgbClr val="1F2933"/>
      </a:dk1>
      <a:lt1>
        <a:srgbClr val="FFFFFF"/>
      </a:lt1>
      <a:dk2>
        <a:srgbClr val="0F2A1D"/>
      </a:dk2>
      <a:lt2>
        <a:srgbClr val="EAF4EE"/>
      </a:lt2>
      <a:accent1>
        <a:srgbClr val="2E7D4F"/>
      </a:accent1>
      <a:accent2>
        <a:srgbClr val="F2A93B"/>
      </a:accent2>
      <a:accent3>
        <a:srgbClr val="1B5E3A"/>
      </a:accent3>
      <a:accent4>
        <a:srgbClr val="5B8C6E"/>
      </a:accent4>
      <a:accent5>
        <a:srgbClr val="C0392B"/>
      </a:accent5>
      <a:accent6>
        <a:srgbClr val="6B7C8A"/>
      </a:accent6>
      <a:hlink>
        <a:srgbClr val="2E7D4F"/>
      </a:hlink>
      <a:folHlink>
        <a:srgbClr val="5B8C6E"/>
      </a:folHlink>
    </a:clrScheme>
    <a:fontScheme name="Terminal 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rminal Green">
  <a:themeElements>
    <a:clrScheme name="Terminal Green">
      <a:dk1>
        <a:srgbClr val="1F2933"/>
      </a:dk1>
      <a:lt1>
        <a:srgbClr val="FFFFFF"/>
      </a:lt1>
      <a:dk2>
        <a:srgbClr val="0F2A1D"/>
      </a:dk2>
      <a:lt2>
        <a:srgbClr val="EAF4EE"/>
      </a:lt2>
      <a:accent1>
        <a:srgbClr val="2E7D4F"/>
      </a:accent1>
      <a:accent2>
        <a:srgbClr val="F2A93B"/>
      </a:accent2>
      <a:accent3>
        <a:srgbClr val="1B5E3A"/>
      </a:accent3>
      <a:accent4>
        <a:srgbClr val="5B8C6E"/>
      </a:accent4>
      <a:accent5>
        <a:srgbClr val="C0392B"/>
      </a:accent5>
      <a:accent6>
        <a:srgbClr val="6B7C8A"/>
      </a:accent6>
      <a:hlink>
        <a:srgbClr val="2E7D4F"/>
      </a:hlink>
      <a:folHlink>
        <a:srgbClr val="5B8C6E"/>
      </a:folHlink>
    </a:clrScheme>
    <a:fontScheme name="Terminal 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7352</Words>
  <Application>WPS Presentation</Application>
  <PresentationFormat>On-screen Show (16:9)</PresentationFormat>
  <Paragraphs>670</Paragraphs>
  <Slides>25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Arial</vt:lpstr>
      <vt:lpstr>SimSun</vt:lpstr>
      <vt:lpstr>Wingdings</vt:lpstr>
      <vt:lpstr>Cambria</vt:lpstr>
      <vt:lpstr>Courier New</vt:lpstr>
      <vt:lpstr>Courier New</vt:lpstr>
      <vt:lpstr>Courier New</vt:lpstr>
      <vt:lpstr>Cambria</vt:lpstr>
      <vt:lpstr>Cambria</vt:lpstr>
      <vt:lpstr>Cambria</vt:lpstr>
      <vt:lpstr>Calibri</vt:lpstr>
      <vt:lpstr>Microsoft YaHei</vt:lpstr>
      <vt:lpstr>Arial Unicode MS</vt:lpstr>
      <vt:lpstr>Arial Black</vt:lpstr>
      <vt:lpstr>Arial Rounded MT Bold</vt:lpstr>
      <vt:lpstr>BIZ UDGothic</vt:lpstr>
      <vt:lpstr>Terminal Green</vt:lpstr>
      <vt:lpstr>PowerPoint 演示文稿</vt:lpstr>
      <vt:lpstr>Library Book Management</vt:lpstr>
      <vt:lpstr>1. Introduction</vt:lpstr>
      <vt:lpstr>2. Problem Statement</vt:lpstr>
      <vt:lpstr>3. Objectives</vt:lpstr>
      <vt:lpstr>4. Scope of the Project</vt:lpstr>
      <vt:lpstr>5. Existing System</vt:lpstr>
      <vt:lpstr>6. Proposed System</vt:lpstr>
      <vt:lpstr>7. Requirements</vt:lpstr>
      <vt:lpstr>8. System Design</vt:lpstr>
      <vt:lpstr>8. System Design: Book Operations</vt:lpstr>
      <vt:lpstr>8. System Design: Flowchart</vt:lpstr>
      <vt:lpstr>9. Algorithm</vt:lpstr>
      <vt:lpstr>10. Implementation</vt:lpstr>
      <vt:lpstr>11. Source Code</vt:lpstr>
      <vt:lpstr>12. Sample Execution</vt:lpstr>
      <vt:lpstr>13. Testing</vt:lpstr>
      <vt:lpstr>14. Team Member Responsibilities</vt:lpstr>
      <vt:lpstr>15. Advantages and Limitations</vt:lpstr>
      <vt:lpstr>16. Future Enhancements</vt:lpstr>
      <vt:lpstr>17. Learning Outcomes</vt:lpstr>
      <vt:lpstr>18. Conclusion</vt:lpstr>
      <vt:lpstr>19. References</vt:lpstr>
      <vt:lpstr>Thank You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Marks &amp; Grade Calculator</dc:title>
  <dc:creator>Linux Mini Project</dc:creator>
  <dc:subject>PptxGenJS Presentation</dc:subject>
  <cp:lastModifiedBy>BHUVAN SAI KUMAR</cp:lastModifiedBy>
  <cp:revision>6</cp:revision>
  <dcterms:created xsi:type="dcterms:W3CDTF">2026-10-12T07:13:00Z</dcterms:created>
  <dcterms:modified xsi:type="dcterms:W3CDTF">2026-10-12T14:38:24Z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1A164C58E4F24C9DB778B748D2498097_12</vt:lpwstr>
  </property>
</Properties>
</file>